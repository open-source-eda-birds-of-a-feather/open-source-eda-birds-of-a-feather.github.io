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70" r:id="rId2"/>
  </p:sldMasterIdLst>
  <p:notesMasterIdLst>
    <p:notesMasterId r:id="rId6"/>
  </p:notesMasterIdLst>
  <p:sldIdLst>
    <p:sldId id="256" r:id="rId3"/>
    <p:sldId id="2147482887" r:id="rId4"/>
    <p:sldId id="2147482905" r:id="rId5"/>
  </p:sldIdLst>
  <p:sldSz cx="6858000" cy="51435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1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53FD2"/>
    <a:srgbClr val="FFFF00"/>
    <a:srgbClr val="72AE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878" autoAdjust="0"/>
  </p:normalViewPr>
  <p:slideViewPr>
    <p:cSldViewPr snapToGrid="0">
      <p:cViewPr varScale="1">
        <p:scale>
          <a:sx n="88" d="100"/>
          <a:sy n="88" d="100"/>
        </p:scale>
        <p:origin x="1738" y="53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5894b881f_0_1408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61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67" name="Google Shape;67;g355894b881f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813A-ED19-9835-E35C-BA54B151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9C0F957F-A8B1-55AA-B1E9-004AD4613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332D4407-B627-3474-C167-2027EF530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58750" indent="0">
              <a:buNone/>
            </a:pPr>
            <a:r>
              <a:rPr lang="en-US" altLang="en-US" i="0">
                <a:latin typeface="Arial" panose="020B0604020202020204" pitchFamily="34" charset="0"/>
              </a:rPr>
              <a:t>Hello, everyone !!!  I’m Andrew Kahng from UCSD, and it’s my privilege to welcome you here. Today is the </a:t>
            </a:r>
            <a:r>
              <a:rPr lang="en-US" altLang="en-US" b="1" i="0">
                <a:latin typeface="Arial" panose="020B0604020202020204" pitchFamily="34" charset="0"/>
              </a:rPr>
              <a:t>SEVENTH </a:t>
            </a:r>
            <a:r>
              <a:rPr lang="en-US" altLang="en-US" b="0" i="0">
                <a:latin typeface="Arial" panose="020B0604020202020204" pitchFamily="34" charset="0"/>
              </a:rPr>
              <a:t>installment of this DAC birds-of-a-feather series!  --- with the theme of open-source EDA, </a:t>
            </a:r>
            <a:r>
              <a:rPr lang="en-US" altLang="en-US" b="1" i="0">
                <a:latin typeface="Arial" panose="020B0604020202020204" pitchFamily="34" charset="0"/>
              </a:rPr>
              <a:t>DATA and COLLABORATION.</a:t>
            </a:r>
            <a:r>
              <a:rPr lang="en-US" altLang="en-US" b="0" i="0">
                <a:latin typeface="Arial" panose="020B0604020202020204" pitchFamily="34" charset="0"/>
              </a:rPr>
              <a:t> </a:t>
            </a:r>
          </a:p>
          <a:p>
            <a:pPr marL="158750" indent="0">
              <a:buNone/>
            </a:pPr>
            <a:r>
              <a:rPr lang="en-US" altLang="en-US" b="1" i="0">
                <a:latin typeface="Arial" panose="020B0604020202020204" pitchFamily="34" charset="0"/>
              </a:rPr>
              <a:t>[CLICK] </a:t>
            </a:r>
            <a:r>
              <a:rPr lang="en-US" altLang="en-US" b="0" i="0">
                <a:latin typeface="Arial" panose="020B0604020202020204" pitchFamily="34" charset="0"/>
              </a:rPr>
              <a:t>This evening is about updates and invitations – from agentic EDA to 2nm research PDKs to ecosystem and governance. Above it all: it’s open source. What can we build together?</a:t>
            </a:r>
          </a:p>
          <a:p>
            <a:pPr marL="158750" indent="0">
              <a:buNone/>
            </a:pPr>
            <a:r>
              <a:rPr lang="en-US" altLang="en-US" b="1" i="0">
                <a:latin typeface="Arial" panose="020B0604020202020204" pitchFamily="34" charset="0"/>
              </a:rPr>
              <a:t>[CLICK] </a:t>
            </a:r>
            <a:r>
              <a:rPr lang="en-US" altLang="en-US" b="0" i="0">
                <a:latin typeface="Arial" panose="020B0604020202020204" pitchFamily="34" charset="0"/>
              </a:rPr>
              <a:t>And a great agenda, including the largest panel ever held at DAC and </a:t>
            </a:r>
            <a:r>
              <a:rPr lang="en-US" altLang="en-US" b="1" i="0">
                <a:latin typeface="Arial" panose="020B0604020202020204" pitchFamily="34" charset="0"/>
              </a:rPr>
              <a:t>[CLICK] Session Seven across the street at the Auld Dubliner: Open Source and Open Tabs.</a:t>
            </a:r>
            <a:endParaRPr lang="en-US" altLang="en-US" b="1" i="0" dirty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AD9A81D7-A484-C833-1EE5-5F2DD0BD012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 algn="just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fld id="{EF357672-E677-4815-9B30-96ACE67E0573}" type="slidenum">
              <a:rPr lang="en-US" altLang="en-US" sz="1800"/>
              <a:pPr algn="l">
                <a:lnSpc>
                  <a:spcPct val="100000"/>
                </a:lnSpc>
                <a:spcBef>
                  <a:spcPct val="0"/>
                </a:spcBef>
              </a:pPr>
              <a:t>2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79668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B606-2903-D6F4-9F82-B1887D41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6FA997D4-0023-10D4-7882-1482BA347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E8D1D46-ACEC-86C4-9CBE-FEE97C142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158750" indent="0">
              <a:buNone/>
            </a:pPr>
            <a:r>
              <a:rPr lang="en-US" altLang="en-US" i="0">
                <a:latin typeface="Arial" panose="020B0604020202020204" pitchFamily="34" charset="0"/>
              </a:rPr>
              <a:t>Each year the best moment of DAC is to see you and say THANK YOU to you, the community of open-source EDA</a:t>
            </a:r>
          </a:p>
          <a:p>
            <a:pPr marL="158750" indent="0">
              <a:buNone/>
            </a:pPr>
            <a:r>
              <a:rPr lang="en-US" altLang="en-US" b="1" i="0">
                <a:latin typeface="Arial" panose="020B0604020202020204" pitchFamily="34" charset="0"/>
              </a:rPr>
              <a:t>[CLICK] </a:t>
            </a:r>
            <a:r>
              <a:rPr lang="en-US" altLang="en-US" b="0" i="0">
                <a:latin typeface="Arial" panose="020B0604020202020204" pitchFamily="34" charset="0"/>
              </a:rPr>
              <a:t>The speakers from around the world – sharing the time with others and contributing more material for the webpage.</a:t>
            </a:r>
          </a:p>
          <a:p>
            <a:pPr marL="158750" indent="0" rtl="0"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[CLICK] 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Thank you to the financial sponsors: CHIPS Alliance, Precision Innovations, and UCSD.  Huge thanks to Yiting Liu and Oleg Levitsky who have done an amazing job with this year’s organization.</a:t>
            </a:r>
            <a:endParaRPr lang="en-US">
              <a:effectLst/>
            </a:endParaRPr>
          </a:p>
          <a:p>
            <a:pPr marL="158750" indent="0" rtl="0"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[CLICK] 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let’s stay in touch – sign up so that we can send you email.  I truly hope we accomplish a lot tonight and in the coming year. This is an exciting time for open-source EDA, and there is a lot to work on.</a:t>
            </a:r>
            <a:endParaRPr lang="en-US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Now let me turn things over to Oleg and Yiting. Thank you.</a:t>
            </a:r>
            <a:endParaRPr lang="en-US">
              <a:effectLst/>
            </a:endParaRPr>
          </a:p>
          <a:p>
            <a:pPr marL="158750" indent="0">
              <a:buNone/>
            </a:pPr>
            <a:endParaRPr lang="en-US" altLang="en-US" b="0" i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91BA6666-8D66-FAEC-2597-E454D4BE6CD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 algn="just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fld id="{EF357672-E677-4815-9B30-96ACE67E0573}" type="slidenum">
              <a:rPr lang="en-US" altLang="en-US" sz="1800"/>
              <a:pPr algn="l">
                <a:lnSpc>
                  <a:spcPct val="100000"/>
                </a:lnSpc>
                <a:spcBef>
                  <a:spcPct val="0"/>
                </a:spcBef>
              </a:pPr>
              <a:t>3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68201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>
            <a:spLocks noGrp="1"/>
          </p:cNvSpPr>
          <p:nvPr>
            <p:ph type="ctrTitle"/>
          </p:nvPr>
        </p:nvSpPr>
        <p:spPr>
          <a:xfrm>
            <a:off x="560377" y="11054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7" name="Google Shape;17;p53"/>
          <p:cNvSpPr txBox="1">
            <a:spLocks noGrp="1"/>
          </p:cNvSpPr>
          <p:nvPr>
            <p:ph type="subTitle" idx="1"/>
          </p:nvPr>
        </p:nvSpPr>
        <p:spPr>
          <a:xfrm>
            <a:off x="1028700" y="25717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ctr">
              <a:lnSpc>
                <a:spcPct val="95000"/>
              </a:lnSpc>
              <a:spcBef>
                <a:spcPts val="304"/>
              </a:spcBef>
              <a:spcAft>
                <a:spcPts val="0"/>
              </a:spcAft>
              <a:buSzPts val="2400"/>
              <a:buFont typeface="Arial"/>
              <a:buNone/>
              <a:defRPr sz="1600" b="1"/>
            </a:lvl1pPr>
            <a:lvl2pPr lvl="1" algn="l">
              <a:lnSpc>
                <a:spcPct val="85000"/>
              </a:lnSpc>
              <a:spcBef>
                <a:spcPts val="228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85000"/>
              </a:lnSpc>
              <a:spcBef>
                <a:spcPts val="228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SzPts val="9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cxnSp>
        <p:nvCxnSpPr>
          <p:cNvPr id="18" name="Google Shape;18;p53"/>
          <p:cNvCxnSpPr/>
          <p:nvPr/>
        </p:nvCxnSpPr>
        <p:spPr>
          <a:xfrm>
            <a:off x="111919" y="1560369"/>
            <a:ext cx="6634163" cy="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4;p22">
            <a:extLst>
              <a:ext uri="{FF2B5EF4-FFF2-40B4-BE49-F238E27FC236}">
                <a16:creationId xmlns:a16="http://schemas.microsoft.com/office/drawing/2014/main" id="{F66CEBE3-152E-6C88-78FC-C1CA02E4476E}"/>
              </a:ext>
            </a:extLst>
          </p:cNvPr>
          <p:cNvSpPr txBox="1"/>
          <p:nvPr/>
        </p:nvSpPr>
        <p:spPr>
          <a:xfrm>
            <a:off x="6512799" y="4965292"/>
            <a:ext cx="334541" cy="17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0" tIns="19280" rIns="38570" bIns="19280" anchor="t" anchorCtr="0">
            <a:spAutoFit/>
          </a:bodyPr>
          <a:lstStyle/>
          <a:p>
            <a:pPr marL="0" marR="0" lvl="0" indent="0" algn="ctr" defTabSz="3857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ctr" defTabSz="3857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‹#›</a:t>
            </a:fld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3;p22" descr="UCSDa1">
            <a:extLst>
              <a:ext uri="{FF2B5EF4-FFF2-40B4-BE49-F238E27FC236}">
                <a16:creationId xmlns:a16="http://schemas.microsoft.com/office/drawing/2014/main" id="{2C4ECB9B-27CF-9A8E-0710-285A00F4F3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31" y="4911331"/>
            <a:ext cx="246627" cy="2309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B27A58-44E8-2046-39D1-CF38485B1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85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>
            <a:spLocks noGrp="1"/>
          </p:cNvSpPr>
          <p:nvPr>
            <p:ph type="body" idx="1" hasCustomPrompt="1"/>
          </p:nvPr>
        </p:nvSpPr>
        <p:spPr>
          <a:xfrm>
            <a:off x="63631" y="572610"/>
            <a:ext cx="6691976" cy="4227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179388" lvl="0" indent="-179388" algn="l">
              <a:lnSpc>
                <a:spcPct val="85000"/>
              </a:lnSpc>
              <a:spcBef>
                <a:spcPts val="354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tabLst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358775" lvl="1" indent="-179388" algn="l">
              <a:lnSpc>
                <a:spcPct val="85000"/>
              </a:lnSpc>
              <a:spcBef>
                <a:spcPts val="304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tabLst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536575" lvl="2" indent="-177800" algn="l">
              <a:lnSpc>
                <a:spcPct val="85000"/>
              </a:lnSpc>
              <a:spcBef>
                <a:spcPts val="254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tabLst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715963" lvl="3" indent="-179388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tabLst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964406" lvl="4" indent="-139304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1157288" lvl="5" indent="-144661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/>
              <a:t>No. 1</a:t>
            </a:r>
          </a:p>
          <a:p>
            <a:pPr lvl="1"/>
            <a:r>
              <a:rPr lang="en-US" dirty="0"/>
              <a:t>No. 2</a:t>
            </a:r>
          </a:p>
          <a:p>
            <a:pPr lvl="2"/>
            <a:r>
              <a:rPr lang="en-US" dirty="0"/>
              <a:t>No. 3</a:t>
            </a:r>
          </a:p>
          <a:p>
            <a:pPr lvl="3"/>
            <a:r>
              <a:rPr lang="en-US" dirty="0"/>
              <a:t>No. 4</a:t>
            </a:r>
            <a:endParaRPr dirty="0"/>
          </a:p>
        </p:txBody>
      </p:sp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0" y="57718"/>
            <a:ext cx="6755607" cy="42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82E555-0506-0C56-F31D-5CBB1E33C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89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2721-7549-3FFB-D9AD-234C4274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821"/>
            <a:ext cx="6858000" cy="399077"/>
          </a:xfrm>
        </p:spPr>
        <p:txBody>
          <a:bodyPr/>
          <a:lstStyle>
            <a:lvl1pPr marR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lang="en-IN" sz="2800" b="1" i="0" u="none" strike="noStrike" cap="none" dirty="0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02976AD-A2E4-3995-8635-A341E22F4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85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0585-C9C4-7EDD-9850-8E80D55A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5447"/>
            <a:ext cx="6847339" cy="446484"/>
          </a:xfrm>
        </p:spPr>
        <p:txBody>
          <a:bodyPr/>
          <a:lstStyle>
            <a:lvl1pPr>
              <a:lnSpc>
                <a:spcPct val="8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7DC5E-F381-AAFC-A909-A67A6C39E2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819" y="588648"/>
            <a:ext cx="3115866" cy="4278628"/>
          </a:xfrm>
        </p:spPr>
        <p:txBody>
          <a:bodyPr/>
          <a:lstStyle>
            <a:lvl1pPr marL="179388" marR="0" indent="-179388" algn="l" rtl="0" eaLnBrk="1" hangingPunct="1">
              <a:lnSpc>
                <a:spcPct val="85000"/>
              </a:lnSpc>
              <a:spcBef>
                <a:spcPts val="354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tabLst/>
              <a:def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00025" indent="-100013">
              <a:defRPr lang="en-US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79450" indent="-76950">
              <a:defRPr lang="en-US" sz="1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62475" indent="-76950">
              <a:buClr>
                <a:srgbClr val="C00000"/>
              </a:buClr>
              <a:buSzPct val="80000"/>
              <a:defRPr lang="en-US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100138" indent="0">
              <a:buNone/>
              <a:defRPr/>
            </a:lvl5pPr>
          </a:lstStyle>
          <a:p>
            <a:r>
              <a:rPr lang="en-US" dirty="0"/>
              <a:t>No. 1</a:t>
            </a:r>
          </a:p>
          <a:p>
            <a:pPr marL="358775" marR="0" lvl="1" indent="-179388" algn="l" rtl="0" eaLnBrk="1" hangingPunct="1">
              <a:lnSpc>
                <a:spcPct val="85000"/>
              </a:lnSpc>
              <a:spcBef>
                <a:spcPts val="304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tabLst/>
            </a:pPr>
            <a:r>
              <a:rPr lang="en-US" dirty="0"/>
              <a:t>No. 2</a:t>
            </a:r>
          </a:p>
          <a:p>
            <a:pPr marL="536575" marR="0" lvl="2" indent="-177800" algn="l" rtl="0" eaLnBrk="1" hangingPunct="1">
              <a:lnSpc>
                <a:spcPct val="85000"/>
              </a:lnSpc>
              <a:spcBef>
                <a:spcPts val="254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tabLst/>
            </a:pPr>
            <a:r>
              <a:rPr lang="en-US" dirty="0"/>
              <a:t>No. 3</a:t>
            </a:r>
          </a:p>
          <a:p>
            <a:pPr marL="715963" marR="0" lvl="3" indent="-179388" algn="l" rtl="0" eaLnBrk="1" hangingPunct="1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tabLst/>
            </a:pPr>
            <a:r>
              <a:rPr lang="en-US" dirty="0"/>
              <a:t>No. 4</a:t>
            </a:r>
          </a:p>
          <a:p>
            <a:pPr lvl="0"/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A1264304-D21E-BA76-E324-19C747AE0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42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8732-E0A2-02B2-5EAB-50D84630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25498"/>
            <a:ext cx="6847339" cy="487188"/>
          </a:xfrm>
        </p:spPr>
        <p:txBody>
          <a:bodyPr/>
          <a:lstStyle>
            <a:lvl1pPr>
              <a:lnSpc>
                <a:spcPct val="80000"/>
              </a:lnSpc>
              <a:defRPr lang="en-IN" sz="2800" b="1" i="0" u="none" strike="noStrike" cap="none" dirty="0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C410E-B314-D39E-3BE8-4624A4C5A6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" y="2689936"/>
            <a:ext cx="6724650" cy="2177341"/>
          </a:xfrm>
        </p:spPr>
        <p:txBody>
          <a:bodyPr/>
          <a:lstStyle>
            <a:lvl1pPr marL="179388" marR="0" indent="-179388" algn="l" rtl="0" eaLnBrk="1" hangingPunct="1">
              <a:lnSpc>
                <a:spcPct val="85000"/>
              </a:lnSpc>
              <a:spcBef>
                <a:spcPts val="354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tabLst/>
              <a:def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00025" indent="-100013">
              <a:defRPr lang="en-US" sz="1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79450" indent="-76950">
              <a:defRPr lang="en-US" sz="1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60450" indent="-76950"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  <a:def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</a:lstStyle>
          <a:p>
            <a:r>
              <a:rPr lang="en-US" dirty="0"/>
              <a:t>No. 1</a:t>
            </a:r>
          </a:p>
          <a:p>
            <a:pPr marL="358775" marR="0" lvl="1" indent="-179388" algn="l" rtl="0" eaLnBrk="1" hangingPunct="1">
              <a:lnSpc>
                <a:spcPct val="85000"/>
              </a:lnSpc>
              <a:spcBef>
                <a:spcPts val="304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tabLst/>
            </a:pPr>
            <a:r>
              <a:rPr lang="en-US" dirty="0"/>
              <a:t>No. 2</a:t>
            </a:r>
          </a:p>
          <a:p>
            <a:pPr marL="536575" marR="0" lvl="2" indent="-177800" algn="l" rtl="0" eaLnBrk="1" hangingPunct="1">
              <a:lnSpc>
                <a:spcPct val="85000"/>
              </a:lnSpc>
              <a:spcBef>
                <a:spcPts val="254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tabLst/>
            </a:pPr>
            <a:r>
              <a:rPr lang="en-US" dirty="0"/>
              <a:t>No. 3</a:t>
            </a:r>
          </a:p>
          <a:p>
            <a:pPr marL="715963" marR="0" lvl="3" indent="-179388" algn="l" rtl="0" eaLnBrk="1" hangingPunct="1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tabLst/>
            </a:pPr>
            <a:r>
              <a:rPr lang="en-US" dirty="0"/>
              <a:t>No. 4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DC080FE-27F5-019E-1F62-71C885958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48600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43EC-F3AD-36D7-152D-ABB7B54C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5" y="1807371"/>
            <a:ext cx="6679406" cy="435769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Google Shape;17;p53">
            <a:extLst>
              <a:ext uri="{FF2B5EF4-FFF2-40B4-BE49-F238E27FC236}">
                <a16:creationId xmlns:a16="http://schemas.microsoft.com/office/drawing/2014/main" id="{D0F4EA71-BBC4-449C-890D-CC79149637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53327" y="2571750"/>
            <a:ext cx="4800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ctr">
              <a:lnSpc>
                <a:spcPct val="95000"/>
              </a:lnSpc>
              <a:spcBef>
                <a:spcPts val="228"/>
              </a:spcBef>
              <a:spcAft>
                <a:spcPts val="0"/>
              </a:spcAft>
              <a:buSzPts val="2400"/>
              <a:buFont typeface="Arial"/>
              <a:buNone/>
              <a:defRPr sz="760" b="1"/>
            </a:lvl1pPr>
            <a:lvl2pPr lvl="1" algn="l">
              <a:lnSpc>
                <a:spcPct val="85000"/>
              </a:lnSpc>
              <a:spcBef>
                <a:spcPts val="171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85000"/>
              </a:lnSpc>
              <a:spcBef>
                <a:spcPts val="171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SzPts val="9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D540DBB-37D9-5210-CE68-D34588121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71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>
            <a:spLocks noGrp="1"/>
          </p:cNvSpPr>
          <p:nvPr>
            <p:ph type="ctrTitle"/>
          </p:nvPr>
        </p:nvSpPr>
        <p:spPr>
          <a:xfrm>
            <a:off x="560377" y="1105412"/>
            <a:ext cx="5829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7" name="Google Shape;17;p53"/>
          <p:cNvSpPr txBox="1">
            <a:spLocks noGrp="1"/>
          </p:cNvSpPr>
          <p:nvPr>
            <p:ph type="subTitle" idx="1"/>
          </p:nvPr>
        </p:nvSpPr>
        <p:spPr>
          <a:xfrm>
            <a:off x="1028700" y="25717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ctr">
              <a:lnSpc>
                <a:spcPct val="95000"/>
              </a:lnSpc>
              <a:spcBef>
                <a:spcPts val="405"/>
              </a:spcBef>
              <a:spcAft>
                <a:spcPts val="0"/>
              </a:spcAft>
              <a:buSzPts val="2400"/>
              <a:buFont typeface="Arial"/>
              <a:buNone/>
              <a:defRPr sz="1350" b="1"/>
            </a:lvl1pPr>
            <a:lvl2pPr lvl="1" algn="l">
              <a:lnSpc>
                <a:spcPct val="85000"/>
              </a:lnSpc>
              <a:spcBef>
                <a:spcPts val="304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85000"/>
              </a:lnSpc>
              <a:spcBef>
                <a:spcPts val="304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SzPts val="9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cxnSp>
        <p:nvCxnSpPr>
          <p:cNvPr id="18" name="Google Shape;18;p53"/>
          <p:cNvCxnSpPr/>
          <p:nvPr/>
        </p:nvCxnSpPr>
        <p:spPr>
          <a:xfrm>
            <a:off x="111919" y="2162879"/>
            <a:ext cx="6634163" cy="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4;p22">
            <a:extLst>
              <a:ext uri="{FF2B5EF4-FFF2-40B4-BE49-F238E27FC236}">
                <a16:creationId xmlns:a16="http://schemas.microsoft.com/office/drawing/2014/main" id="{F66CEBE3-152E-6C88-78FC-C1CA02E4476E}"/>
              </a:ext>
            </a:extLst>
          </p:cNvPr>
          <p:cNvSpPr txBox="1"/>
          <p:nvPr/>
        </p:nvSpPr>
        <p:spPr>
          <a:xfrm>
            <a:off x="6512799" y="4965292"/>
            <a:ext cx="334541" cy="15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‹#›</a:t>
            </a:fld>
            <a:endParaRPr kumimoji="0" sz="67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3;p22" descr="UCSDa1">
            <a:extLst>
              <a:ext uri="{FF2B5EF4-FFF2-40B4-BE49-F238E27FC236}">
                <a16:creationId xmlns:a16="http://schemas.microsoft.com/office/drawing/2014/main" id="{2C4ECB9B-27CF-9A8E-0710-285A00F4F3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31" y="4911330"/>
            <a:ext cx="246627" cy="2309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54100A-2720-BF8B-6F70-4D3F8FC9B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243933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>
            <a:spLocks noGrp="1"/>
          </p:cNvSpPr>
          <p:nvPr>
            <p:ph type="body" idx="1" hasCustomPrompt="1"/>
          </p:nvPr>
        </p:nvSpPr>
        <p:spPr>
          <a:xfrm>
            <a:off x="63631" y="572610"/>
            <a:ext cx="6691976" cy="4227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134541" lvl="0" indent="-134541" algn="l">
              <a:lnSpc>
                <a:spcPct val="85000"/>
              </a:lnSpc>
              <a:spcBef>
                <a:spcPts val="472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tabLst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270000" lvl="1" indent="-135000" algn="l">
              <a:lnSpc>
                <a:spcPct val="85000"/>
              </a:lnSpc>
              <a:spcBef>
                <a:spcPts val="405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tabLst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375300" lvl="2" indent="-105300" algn="l">
              <a:lnSpc>
                <a:spcPct val="85000"/>
              </a:lnSpc>
              <a:spcBef>
                <a:spcPts val="338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tabLst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483300" lvl="3" indent="-105300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tabLst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1285875" lvl="4" indent="-185738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1543050" lvl="5" indent="-192881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/>
              <a:t>No. 1</a:t>
            </a:r>
          </a:p>
          <a:p>
            <a:pPr lvl="1"/>
            <a:r>
              <a:rPr lang="en-US" dirty="0"/>
              <a:t>No. 2</a:t>
            </a:r>
          </a:p>
          <a:p>
            <a:pPr lvl="2"/>
            <a:r>
              <a:rPr lang="en-US" dirty="0"/>
              <a:t>No. 3</a:t>
            </a:r>
          </a:p>
          <a:p>
            <a:pPr lvl="3"/>
            <a:r>
              <a:rPr lang="en-US" dirty="0"/>
              <a:t>No. 4</a:t>
            </a:r>
            <a:endParaRPr dirty="0"/>
          </a:p>
        </p:txBody>
      </p:sp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0" y="57718"/>
            <a:ext cx="6755607" cy="42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DCDD56-21A7-F3A1-B2AE-CC2705162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2421761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2721-7549-3FFB-D9AD-234C4274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820"/>
            <a:ext cx="6858000" cy="399077"/>
          </a:xfrm>
        </p:spPr>
        <p:txBody>
          <a:bodyPr/>
          <a:lstStyle>
            <a:lvl1pPr marR="0" algn="l" rtl="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lang="en-IN" sz="2100" b="1" i="0" u="none" strike="noStrike" cap="none" dirty="0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9297959-50B1-F664-50A4-BE40AFCDE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418689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0585-C9C4-7EDD-9850-8E80D55A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447"/>
            <a:ext cx="6847339" cy="446484"/>
          </a:xfrm>
        </p:spPr>
        <p:txBody>
          <a:bodyPr/>
          <a:lstStyle>
            <a:lvl1pPr>
              <a:lnSpc>
                <a:spcPct val="80000"/>
              </a:lnSpc>
              <a:defRPr sz="21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7DC5E-F381-AAFC-A909-A67A6C39E2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9" y="588648"/>
            <a:ext cx="3115866" cy="4278628"/>
          </a:xfrm>
        </p:spPr>
        <p:txBody>
          <a:bodyPr/>
          <a:lstStyle>
            <a:lvl1pPr marL="133350" indent="-133350">
              <a:defRPr sz="1500"/>
            </a:lvl1pPr>
            <a:lvl2pPr marL="266700" indent="-133350">
              <a:defRPr sz="1350"/>
            </a:lvl2pPr>
            <a:lvl3pPr marL="372600" indent="-102600">
              <a:defRPr sz="1200"/>
            </a:lvl3pPr>
            <a:lvl4pPr marL="483300" indent="-102600">
              <a:buClr>
                <a:srgbClr val="C00000"/>
              </a:buClr>
              <a:buSzPct val="80000"/>
              <a:defRPr sz="1050"/>
            </a:lvl4pPr>
            <a:lvl5pPr marL="14668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67B4302-52FF-965B-56AA-1D458AC72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15745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8732-E0A2-02B2-5EAB-50D84630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5498"/>
            <a:ext cx="6847339" cy="487188"/>
          </a:xfrm>
        </p:spPr>
        <p:txBody>
          <a:bodyPr/>
          <a:lstStyle>
            <a:lvl1pPr>
              <a:lnSpc>
                <a:spcPct val="80000"/>
              </a:lnSpc>
              <a:defRPr sz="21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C410E-B314-D39E-3BE8-4624A4C5A6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" y="2689935"/>
            <a:ext cx="6724650" cy="2177341"/>
          </a:xfrm>
        </p:spPr>
        <p:txBody>
          <a:bodyPr/>
          <a:lstStyle>
            <a:lvl1pPr marL="133350" indent="-133350">
              <a:defRPr sz="1500"/>
            </a:lvl1pPr>
            <a:lvl2pPr marL="266700" indent="-133350">
              <a:defRPr sz="1350"/>
            </a:lvl2pPr>
            <a:lvl3pPr marL="372600" indent="-102600">
              <a:defRPr sz="1200"/>
            </a:lvl3pPr>
            <a:lvl4pPr marL="480600" indent="-102600"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  <a:defRPr lang="en-US" sz="105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6D1BACF-C916-BBBC-642A-4A6A278A1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149266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43EC-F3AD-36D7-152D-ABB7B54C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4" y="1807370"/>
            <a:ext cx="6679406" cy="435769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Google Shape;17;p53">
            <a:extLst>
              <a:ext uri="{FF2B5EF4-FFF2-40B4-BE49-F238E27FC236}">
                <a16:creationId xmlns:a16="http://schemas.microsoft.com/office/drawing/2014/main" id="{D0F4EA71-BBC4-449C-890D-CC79149637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53327" y="2571750"/>
            <a:ext cx="4800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ctr">
              <a:lnSpc>
                <a:spcPct val="95000"/>
              </a:lnSpc>
              <a:spcBef>
                <a:spcPts val="304"/>
              </a:spcBef>
              <a:spcAft>
                <a:spcPts val="0"/>
              </a:spcAft>
              <a:buSzPts val="2400"/>
              <a:buFont typeface="Arial"/>
              <a:buNone/>
              <a:defRPr sz="1013" b="1"/>
            </a:lvl1pPr>
            <a:lvl2pPr lvl="1" algn="l">
              <a:lnSpc>
                <a:spcPct val="85000"/>
              </a:lnSpc>
              <a:spcBef>
                <a:spcPts val="228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85000"/>
              </a:lnSpc>
              <a:spcBef>
                <a:spcPts val="228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SzPts val="9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71170249-1F19-53AD-E7BF-695561FD5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152478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43A2-DB54-5862-1C0D-F97187F6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CE36-D5BD-909C-14D0-243BCB3F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7D14-4CAF-A6D8-8676-009FE5D0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57722-5CB5-4D78-A847-22E60B8592AB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52F37-F777-4B90-778C-B878739F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490E8-5255-4BDE-9876-59BE727097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523E7434-5FD8-32FC-3249-3CDF64C6F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199941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2" y="25498"/>
            <a:ext cx="6847339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57152" y="601267"/>
            <a:ext cx="6698456" cy="431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406400" algn="l" rtl="0">
              <a:lnSpc>
                <a:spcPct val="85000"/>
              </a:lnSpc>
              <a:spcBef>
                <a:spcPts val="84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9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 dirty="0"/>
          </a:p>
        </p:txBody>
      </p:sp>
      <p:cxnSp>
        <p:nvCxnSpPr>
          <p:cNvPr id="12" name="Google Shape;12;p22"/>
          <p:cNvCxnSpPr>
            <a:cxnSpLocks/>
          </p:cNvCxnSpPr>
          <p:nvPr/>
        </p:nvCxnSpPr>
        <p:spPr>
          <a:xfrm>
            <a:off x="57152" y="528629"/>
            <a:ext cx="6698456" cy="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2" descr="UCSDa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931" y="4911331"/>
            <a:ext cx="246627" cy="23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2"/>
          <p:cNvSpPr txBox="1"/>
          <p:nvPr/>
        </p:nvSpPr>
        <p:spPr>
          <a:xfrm>
            <a:off x="6512799" y="4965292"/>
            <a:ext cx="334541" cy="17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0" tIns="19280" rIns="38570" bIns="19280" anchor="t" anchorCtr="0">
            <a:spAutoFit/>
          </a:bodyPr>
          <a:lstStyle/>
          <a:p>
            <a:pPr marL="0" marR="0" lvl="0" indent="0" algn="ctr" defTabSz="3857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ctr" defTabSz="3857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‹#›</a:t>
            </a:fld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BD9C9A-9B70-932E-4B93-8534F1A4C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BOF Opening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1487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9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1" y="25498"/>
            <a:ext cx="6847339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 dirty="0"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57151" y="601266"/>
            <a:ext cx="6698456" cy="431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406400" algn="l" rtl="0">
              <a:lnSpc>
                <a:spcPct val="85000"/>
              </a:lnSpc>
              <a:spcBef>
                <a:spcPts val="84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9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 dirty="0"/>
          </a:p>
        </p:txBody>
      </p:sp>
      <p:cxnSp>
        <p:nvCxnSpPr>
          <p:cNvPr id="12" name="Google Shape;12;p22"/>
          <p:cNvCxnSpPr>
            <a:cxnSpLocks/>
          </p:cNvCxnSpPr>
          <p:nvPr/>
        </p:nvCxnSpPr>
        <p:spPr>
          <a:xfrm>
            <a:off x="57151" y="528629"/>
            <a:ext cx="6698456" cy="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2" descr="UCSDa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931" y="4911330"/>
            <a:ext cx="246627" cy="23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2"/>
          <p:cNvSpPr txBox="1"/>
          <p:nvPr/>
        </p:nvSpPr>
        <p:spPr>
          <a:xfrm>
            <a:off x="6512799" y="4965292"/>
            <a:ext cx="334541" cy="15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‹#›</a:t>
            </a:fld>
            <a:endParaRPr kumimoji="0" sz="67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C560426-58A7-366A-6C86-8E0A856EC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 dirty="0"/>
              <a:t>DAC-2025 BOF Opening</a:t>
            </a:r>
          </a:p>
        </p:txBody>
      </p:sp>
    </p:spTree>
    <p:extLst>
      <p:ext uri="{BB962C8B-B14F-4D97-AF65-F5344CB8AC3E}">
        <p14:creationId xmlns:p14="http://schemas.microsoft.com/office/powerpoint/2010/main" val="14749284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2E316D-292A-3BFD-C33A-F154414BED88}"/>
              </a:ext>
            </a:extLst>
          </p:cNvPr>
          <p:cNvSpPr txBox="1"/>
          <p:nvPr/>
        </p:nvSpPr>
        <p:spPr>
          <a:xfrm>
            <a:off x="1716332" y="4598850"/>
            <a:ext cx="1439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" name="Google Shape;69;p16">
            <a:extLst>
              <a:ext uri="{FF2B5EF4-FFF2-40B4-BE49-F238E27FC236}">
                <a16:creationId xmlns:a16="http://schemas.microsoft.com/office/drawing/2014/main" id="{FC880406-8104-DDC0-4E38-B33330EA3D18}"/>
              </a:ext>
            </a:extLst>
          </p:cNvPr>
          <p:cNvSpPr txBox="1">
            <a:spLocks/>
          </p:cNvSpPr>
          <p:nvPr/>
        </p:nvSpPr>
        <p:spPr>
          <a:xfrm>
            <a:off x="1" y="509814"/>
            <a:ext cx="6858000" cy="558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1431" rIns="14288" bIns="2143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25406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600"/>
              <a:t>DAC-2026 </a:t>
            </a:r>
            <a:r>
              <a:rPr lang="en-US" sz="2600" dirty="0"/>
              <a:t>Birds-of-a-Feather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600" dirty="0"/>
              <a:t>Open-Source EDA, Data and Collaboration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800">
                <a:solidFill>
                  <a:schemeClr val="tx1"/>
                </a:solidFill>
              </a:rPr>
              <a:t>June 28, </a:t>
            </a:r>
            <a:r>
              <a:rPr lang="en-US" sz="1800" dirty="0">
                <a:solidFill>
                  <a:schemeClr val="tx1"/>
                </a:solidFill>
              </a:rPr>
              <a:t>6:30-9:30pm, </a:t>
            </a:r>
            <a:r>
              <a:rPr lang="en-US" sz="1800">
                <a:solidFill>
                  <a:schemeClr val="tx1"/>
                </a:solidFill>
              </a:rPr>
              <a:t>Room 104C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DAD2D26-7C29-498B-FBDE-03FEA9546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</a:t>
            </a:r>
            <a:r>
              <a:rPr lang="en-IN" dirty="0"/>
              <a:t>BOF Opening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FAEB26-A6BA-C5BF-45A6-F5A4BC8AE156}"/>
              </a:ext>
            </a:extLst>
          </p:cNvPr>
          <p:cNvSpPr txBox="1"/>
          <p:nvPr/>
        </p:nvSpPr>
        <p:spPr>
          <a:xfrm>
            <a:off x="4553312" y="4325909"/>
            <a:ext cx="178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Interest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5150E-9DAA-DE5B-095B-A50E7B32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4" t="9912" r="10169" b="9912"/>
          <a:stretch>
            <a:fillRect/>
          </a:stretch>
        </p:blipFill>
        <p:spPr>
          <a:xfrm>
            <a:off x="904943" y="1733006"/>
            <a:ext cx="2885111" cy="2900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6DDB7-43CE-718C-CA0E-FB0E5A2FA7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2" t="8714" r="7968" b="7387"/>
          <a:stretch>
            <a:fillRect/>
          </a:stretch>
        </p:blipFill>
        <p:spPr>
          <a:xfrm>
            <a:off x="4183945" y="2019424"/>
            <a:ext cx="2330066" cy="2327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C76A-726C-432A-5121-EE126777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2">
            <a:extLst>
              <a:ext uri="{FF2B5EF4-FFF2-40B4-BE49-F238E27FC236}">
                <a16:creationId xmlns:a16="http://schemas.microsoft.com/office/drawing/2014/main" id="{C9E8AC59-21EB-672A-2F8C-47C60C839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>
                <a:ea typeface="SimSun" panose="02010600030101010101" pitchFamily="2" charset="-122"/>
              </a:rPr>
              <a:t>Welcome !</a:t>
            </a:r>
            <a:endParaRPr lang="en-US" altLang="en-US" sz="2400" dirty="0">
              <a:solidFill>
                <a:srgbClr val="1B00C0"/>
              </a:solidFill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0884766-F7C2-5A5E-678D-300A6D06D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</a:t>
            </a:r>
            <a:r>
              <a:rPr lang="en-IN" dirty="0"/>
              <a:t>BOF Opening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D84BAF-D76E-33DA-42F6-23FD12DA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72610"/>
            <a:ext cx="6857999" cy="4227992"/>
          </a:xfrm>
        </p:spPr>
        <p:txBody>
          <a:bodyPr/>
          <a:lstStyle/>
          <a:p>
            <a:r>
              <a:rPr lang="en-US" b="1"/>
              <a:t>7th</a:t>
            </a:r>
            <a:r>
              <a:rPr lang="en-US"/>
              <a:t> in </a:t>
            </a:r>
            <a:r>
              <a:rPr lang="en-US" dirty="0"/>
              <a:t>this Birds-of-a-Feather series, 2018-</a:t>
            </a:r>
          </a:p>
          <a:p>
            <a:pPr lvl="1"/>
            <a:r>
              <a:rPr lang="en-US" b="1" dirty="0">
                <a:solidFill>
                  <a:srgbClr val="353FD2"/>
                </a:solidFill>
              </a:rPr>
              <a:t>“Open-source EDA, Data and </a:t>
            </a:r>
            <a:r>
              <a:rPr lang="en-US" b="1">
                <a:solidFill>
                  <a:srgbClr val="353FD2"/>
                </a:solidFill>
              </a:rPr>
              <a:t>Collaboration”</a:t>
            </a:r>
            <a:endParaRPr lang="en-US"/>
          </a:p>
          <a:p>
            <a:pPr>
              <a:spcBef>
                <a:spcPts val="800"/>
              </a:spcBef>
            </a:pPr>
            <a:r>
              <a:rPr lang="en-US" b="1"/>
              <a:t>Purpose: “updates and invitations”</a:t>
            </a:r>
          </a:p>
          <a:p>
            <a:pPr lvl="1"/>
            <a:r>
              <a:rPr lang="en-US"/>
              <a:t>Agentic AI-EDA, enablement, ecosystem, governance…</a:t>
            </a:r>
          </a:p>
          <a:p>
            <a:pPr lvl="1"/>
            <a:r>
              <a:rPr lang="en-US" b="1">
                <a:solidFill>
                  <a:srgbClr val="353FD2"/>
                </a:solidFill>
              </a:rPr>
              <a:t>What can we build together?</a:t>
            </a:r>
            <a:endParaRPr lang="en-US" dirty="0"/>
          </a:p>
          <a:p>
            <a:pPr>
              <a:spcBef>
                <a:spcPts val="800"/>
              </a:spcBef>
            </a:pPr>
            <a:r>
              <a:rPr lang="en-US" b="1" dirty="0"/>
              <a:t>A great agenda !</a:t>
            </a:r>
          </a:p>
          <a:p>
            <a:pPr lvl="1"/>
            <a:r>
              <a:rPr lang="en-US" dirty="0"/>
              <a:t>I. Opening</a:t>
            </a:r>
          </a:p>
          <a:p>
            <a:pPr lvl="1"/>
            <a:r>
              <a:rPr lang="en-US" dirty="0"/>
              <a:t>II</a:t>
            </a:r>
            <a:r>
              <a:rPr lang="en-US"/>
              <a:t>. General Updates from the Community</a:t>
            </a:r>
            <a:endParaRPr lang="en-US" dirty="0"/>
          </a:p>
          <a:p>
            <a:pPr lvl="1"/>
            <a:r>
              <a:rPr lang="en-US"/>
              <a:t>III. Open-Source Ecosystem &amp; Infrastructure</a:t>
            </a:r>
          </a:p>
          <a:p>
            <a:pPr lvl="1"/>
            <a:r>
              <a:rPr lang="en-US"/>
              <a:t>IV. AI-Assisted EDA and Physical Design Workflows</a:t>
            </a:r>
            <a:endParaRPr lang="en-US" dirty="0"/>
          </a:p>
          <a:p>
            <a:pPr lvl="1"/>
            <a:r>
              <a:rPr lang="en-US" dirty="0"/>
              <a:t>V</a:t>
            </a:r>
            <a:r>
              <a:rPr lang="en-US"/>
              <a:t>. Workforce Development and Training</a:t>
            </a:r>
            <a:endParaRPr lang="en-US" dirty="0"/>
          </a:p>
          <a:p>
            <a:pPr lvl="1"/>
            <a:r>
              <a:rPr lang="en-US" dirty="0"/>
              <a:t>VI</a:t>
            </a:r>
            <a:r>
              <a:rPr lang="en-US"/>
              <a:t>. Lightning Round and Closing Remarks </a:t>
            </a:r>
          </a:p>
          <a:p>
            <a:pPr lvl="1"/>
            <a:r>
              <a:rPr lang="en-US">
                <a:solidFill>
                  <a:srgbClr val="353FD2"/>
                </a:solidFill>
              </a:rPr>
              <a:t>VII. After-Event Networking: “Open Source, Open Tabs”</a:t>
            </a:r>
            <a:endParaRPr lang="en-US" dirty="0">
              <a:solidFill>
                <a:srgbClr val="353FD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502478"/>
      </p:ext>
    </p:extLst>
  </p:cSld>
  <p:clrMapOvr>
    <a:masterClrMapping/>
  </p:clrMapOvr>
  <p:transition spd="slow" advTm="677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5A6E-C27B-E0F1-B858-02C403A0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2">
            <a:extLst>
              <a:ext uri="{FF2B5EF4-FFF2-40B4-BE49-F238E27FC236}">
                <a16:creationId xmlns:a16="http://schemas.microsoft.com/office/drawing/2014/main" id="{4DFD65CC-0E1B-A131-155B-71C369152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7718"/>
            <a:ext cx="6733953" cy="423050"/>
          </a:xfrm>
        </p:spPr>
        <p:txBody>
          <a:bodyPr/>
          <a:lstStyle/>
          <a:p>
            <a:r>
              <a:rPr lang="en-US" altLang="zh-CN" sz="2400" dirty="0">
                <a:ea typeface="SimSun" panose="02010600030101010101" pitchFamily="2" charset="-122"/>
              </a:rPr>
              <a:t>Thanks to You, the OS EDA Community !!!</a:t>
            </a:r>
            <a:endParaRPr lang="en-US" altLang="en-US" sz="2400" dirty="0">
              <a:solidFill>
                <a:srgbClr val="1B00C0"/>
              </a:solidFill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645BD6-6B79-203A-8068-821437446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558" y="4923725"/>
            <a:ext cx="1586271" cy="1928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r>
              <a:rPr lang="en-IN"/>
              <a:t>DAC-2026 </a:t>
            </a:r>
            <a:r>
              <a:rPr lang="en-IN" dirty="0"/>
              <a:t>BOF Opening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2267BF-8E7C-B24A-598F-37E47994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72610"/>
            <a:ext cx="6966857" cy="4227992"/>
          </a:xfrm>
        </p:spPr>
        <p:txBody>
          <a:bodyPr/>
          <a:lstStyle/>
          <a:p>
            <a:r>
              <a:rPr lang="en-US" b="1" dirty="0"/>
              <a:t>Speakers</a:t>
            </a:r>
          </a:p>
          <a:p>
            <a:pPr lvl="1">
              <a:spcBef>
                <a:spcPts val="800"/>
              </a:spcBef>
            </a:pPr>
            <a:r>
              <a:rPr lang="en-US" sz="1800"/>
              <a:t>Contributing from </a:t>
            </a:r>
            <a:r>
              <a:rPr lang="en-US" sz="1800" dirty="0"/>
              <a:t>around the world</a:t>
            </a:r>
            <a:r>
              <a:rPr lang="en-US" sz="1800"/>
              <a:t>, industry </a:t>
            </a:r>
            <a:r>
              <a:rPr lang="en-US" sz="1800" dirty="0"/>
              <a:t>and academia</a:t>
            </a:r>
          </a:p>
          <a:p>
            <a:pPr lvl="1"/>
            <a:r>
              <a:rPr lang="en-US" sz="1800" dirty="0" err="1"/>
              <a:t>Accomodating</a:t>
            </a:r>
            <a:r>
              <a:rPr lang="en-US" sz="1800" dirty="0"/>
              <a:t> the time limits </a:t>
            </a:r>
          </a:p>
          <a:p>
            <a:pPr lvl="1"/>
            <a:r>
              <a:rPr lang="en-US" sz="1800">
                <a:solidFill>
                  <a:srgbClr val="353FD2"/>
                </a:solidFill>
              </a:rPr>
              <a:t>Extended </a:t>
            </a:r>
            <a:r>
              <a:rPr lang="en-US" sz="1800" dirty="0">
                <a:solidFill>
                  <a:srgbClr val="353FD2"/>
                </a:solidFill>
              </a:rPr>
              <a:t>slides</a:t>
            </a:r>
            <a:r>
              <a:rPr lang="en-US" sz="1800">
                <a:solidFill>
                  <a:srgbClr val="353FD2"/>
                </a:solidFill>
              </a:rPr>
              <a:t>, videos will be posted on the webpage</a:t>
            </a:r>
            <a:endParaRPr lang="en-US" sz="1800" dirty="0">
              <a:solidFill>
                <a:srgbClr val="353FD2"/>
              </a:solidFill>
            </a:endParaRPr>
          </a:p>
          <a:p>
            <a:pPr>
              <a:spcBef>
                <a:spcPts val="1200"/>
              </a:spcBef>
            </a:pPr>
            <a:r>
              <a:rPr lang="en-US" b="1" dirty="0"/>
              <a:t>Organization </a:t>
            </a:r>
            <a:r>
              <a:rPr lang="en-US" b="1"/>
              <a:t>and Support</a:t>
            </a:r>
            <a:endParaRPr lang="en-US" sz="1800" dirty="0"/>
          </a:p>
          <a:p>
            <a:pPr lvl="1">
              <a:spcBef>
                <a:spcPts val="800"/>
              </a:spcBef>
            </a:pPr>
            <a:r>
              <a:rPr lang="en-US" sz="1800"/>
              <a:t>CHIPS Alliance</a:t>
            </a:r>
          </a:p>
          <a:p>
            <a:pPr lvl="1"/>
            <a:r>
              <a:rPr lang="en-US" sz="1800"/>
              <a:t>Precision Innovations</a:t>
            </a:r>
          </a:p>
          <a:p>
            <a:pPr lvl="1"/>
            <a:r>
              <a:rPr lang="en-US" sz="1800"/>
              <a:t>UC San Diego</a:t>
            </a:r>
            <a:endParaRPr lang="en-US" sz="1800" dirty="0"/>
          </a:p>
          <a:p>
            <a:pPr lvl="1"/>
            <a:r>
              <a:rPr lang="en-US" sz="1800" b="1">
                <a:solidFill>
                  <a:srgbClr val="353FD2"/>
                </a:solidFill>
              </a:rPr>
              <a:t>Yiting Liu, UCSD and Oleg Levitsky, Precision Innovations</a:t>
            </a:r>
            <a:endParaRPr lang="en-US" sz="1800" b="1" dirty="0">
              <a:solidFill>
                <a:srgbClr val="353FD2"/>
              </a:solidFill>
            </a:endParaRPr>
          </a:p>
          <a:p>
            <a:pPr>
              <a:spcBef>
                <a:spcPts val="1200"/>
              </a:spcBef>
            </a:pPr>
            <a:r>
              <a:rPr lang="en-US" b="1" dirty="0"/>
              <a:t>Let’s stay in touch !</a:t>
            </a:r>
          </a:p>
          <a:p>
            <a:pPr lvl="1">
              <a:spcBef>
                <a:spcPts val="800"/>
              </a:spcBef>
            </a:pPr>
            <a:r>
              <a:rPr lang="en-US" sz="1800" dirty="0"/>
              <a:t>Signup sheets are circulating</a:t>
            </a:r>
          </a:p>
          <a:p>
            <a:pPr lvl="1"/>
            <a:r>
              <a:rPr lang="en-US" sz="1800" dirty="0"/>
              <a:t>Discussions++ afterward 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4699282"/>
      </p:ext>
    </p:extLst>
  </p:cSld>
  <p:clrMapOvr>
    <a:masterClrMapping/>
  </p:clrMapOvr>
  <p:transition spd="slow" advTm="677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.2|3.6|3.1|3.1|4.3|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.2|3.6|3.1|3.1|4.3|22"/>
</p:tagLst>
</file>

<file path=ppt/theme/theme1.xml><?xml version="1.0" encoding="utf-8"?>
<a:theme xmlns:a="http://schemas.openxmlformats.org/drawingml/2006/main" name="2_ABKGROU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ABKGROU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Template-v6</Template>
  <TotalTime>3685</TotalTime>
  <Words>450</Words>
  <Application>Microsoft Office PowerPoint</Application>
  <PresentationFormat>Custom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SimSun</vt:lpstr>
      <vt:lpstr>Arial</vt:lpstr>
      <vt:lpstr>2_ABKGROUP</vt:lpstr>
      <vt:lpstr>3_ABKGROUP</vt:lpstr>
      <vt:lpstr>PowerPoint Presentation</vt:lpstr>
      <vt:lpstr>Welcome !</vt:lpstr>
      <vt:lpstr>Thanks to You, the OS EDA Community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Kahng</cp:lastModifiedBy>
  <cp:revision>89</cp:revision>
  <cp:lastPrinted>2025-06-05T23:05:13Z</cp:lastPrinted>
  <dcterms:modified xsi:type="dcterms:W3CDTF">2026-07-29T00:30:00Z</dcterms:modified>
</cp:coreProperties>
</file>