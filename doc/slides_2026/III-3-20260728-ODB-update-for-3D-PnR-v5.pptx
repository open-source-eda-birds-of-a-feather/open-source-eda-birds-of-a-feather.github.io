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  <p:sldMasterId id="2147483670" r:id="rId2"/>
    <p:sldMasterId id="2147483684" r:id="rId3"/>
    <p:sldMasterId id="2147483689" r:id="rId4"/>
  </p:sldMasterIdLst>
  <p:notesMasterIdLst>
    <p:notesMasterId r:id="rId13"/>
  </p:notesMasterIdLst>
  <p:sldIdLst>
    <p:sldId id="267" r:id="rId5"/>
    <p:sldId id="257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4"/>
      <p:bold r:id="rId15"/>
      <p:italic r:id="rId16"/>
      <p:boldItalic r:id="rId17"/>
    </p:embeddedFont>
    <p:embeddedFont>
      <p:font typeface="IBM Plex Mono" panose="020B0509050203000203" pitchFamily="49" charset="0"/>
      <p:regular r:id="rId18"/>
      <p:bold r:id="rId19"/>
      <p:italic r:id="rId20"/>
      <p:boldItalic r:id="rId21"/>
    </p:embeddedFont>
    <p:embeddedFont>
      <p:font typeface="IBM Plex Sans" panose="020B0503050203000203" pitchFamily="34" charset="0"/>
      <p:regular r:id="rId22"/>
      <p:bold r:id="rId23"/>
      <p:italic r:id="rId24"/>
      <p:boldItalic r:id="rId25"/>
    </p:embeddedFon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Libre Franklin" pitchFamily="2" charset="0"/>
      <p:regular r:id="rId30"/>
      <p:bold r:id="rId31"/>
      <p:italic r:id="rId32"/>
      <p:boldItalic r:id="rId33"/>
    </p:embeddedFont>
    <p:embeddedFont>
      <p:font typeface="Libre Franklin Medium" pitchFamily="2" charset="0"/>
      <p:regular r:id="rId34"/>
      <p:bold r:id="rId35"/>
      <p:italic r:id="rId36"/>
      <p:boldItalic r:id="rId37"/>
    </p:embeddedFont>
    <p:embeddedFont>
      <p:font typeface="Tahoma" panose="020B0604030504040204" pitchFamily="34" charset="0"/>
      <p:regular r:id="rId38"/>
      <p:bold r:id="rId39"/>
    </p:embeddedFont>
    <p:embeddedFont>
      <p:font typeface="Trebuchet MS" panose="020B0603020202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jJu4LT679zY8LvvjdTtqVBBp+Qe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sama Hammad Abdel Reheem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D39352-0759-4F8E-9E60-645504D6BA97}">
  <a:tblStyle styleId="{21D39352-0759-4F8E-9E60-645504D6BA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font" Target="fonts/font29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9" Type="http://schemas.openxmlformats.org/officeDocument/2006/relationships/font" Target="fonts/font16.fntdata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font" Target="fonts/font27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customschemas.google.com/relationships/presentationmetadata" Target="meta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font" Target="fonts/font30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Relationship Id="rId46" Type="http://schemas.openxmlformats.org/officeDocument/2006/relationships/presProps" Target="presProps.xml"/><Relationship Id="rId20" Type="http://schemas.openxmlformats.org/officeDocument/2006/relationships/font" Target="fonts/font7.fntdata"/><Relationship Id="rId41" Type="http://schemas.openxmlformats.org/officeDocument/2006/relationships/font" Target="fonts/font2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 Moon" userId="a044086aa346676c" providerId="LiveId" clId="{E2EFEEF7-F683-4E41-BFE7-4780308AE358}"/>
    <pc:docChg chg="modSld">
      <pc:chgData name="Cho Moon" userId="a044086aa346676c" providerId="LiveId" clId="{E2EFEEF7-F683-4E41-BFE7-4780308AE358}" dt="2026-07-26T16:48:20.422" v="11" actId="20577"/>
      <pc:docMkLst>
        <pc:docMk/>
      </pc:docMkLst>
      <pc:sldChg chg="modSp mod">
        <pc:chgData name="Cho Moon" userId="a044086aa346676c" providerId="LiveId" clId="{E2EFEEF7-F683-4E41-BFE7-4780308AE358}" dt="2026-07-26T16:48:20.422" v="11" actId="20577"/>
        <pc:sldMkLst>
          <pc:docMk/>
          <pc:sldMk cId="0" sldId="267"/>
        </pc:sldMkLst>
        <pc:spChg chg="mod">
          <ac:chgData name="Cho Moon" userId="a044086aa346676c" providerId="LiveId" clId="{E2EFEEF7-F683-4E41-BFE7-4780308AE358}" dt="2026-07-26T16:48:20.422" v="11" actId="20577"/>
          <ac:spMkLst>
            <pc:docMk/>
            <pc:sldMk cId="0" sldId="267"/>
            <ac:spMk id="6" creationId="{8CC4F2B2-C0A6-2263-0FB9-35269B766F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2" name="Google Shape;2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3dbx contains chiplet connections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3dbv contains chiplet details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bfc88da32_9_0)">
  <p:cSld name="Generated (g3ebfc88da32_9_0)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>
            <a:spLocks noGrp="1"/>
          </p:cNvSpPr>
          <p:nvPr>
            <p:ph type="title"/>
          </p:nvPr>
        </p:nvSpPr>
        <p:spPr>
          <a:xfrm>
            <a:off x="201268" y="1"/>
            <a:ext cx="8706677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1"/>
          </p:nvPr>
        </p:nvSpPr>
        <p:spPr>
          <a:xfrm>
            <a:off x="201268" y="1095374"/>
            <a:ext cx="4313582" cy="340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400"/>
              <a:buFont typeface="Arial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Arial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body" idx="2"/>
          </p:nvPr>
        </p:nvSpPr>
        <p:spPr>
          <a:xfrm>
            <a:off x="4629150" y="1095374"/>
            <a:ext cx="4278796" cy="340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port Page - primary">
  <p:cSld name="Report Page - primar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7"/>
          <p:cNvSpPr/>
          <p:nvPr/>
        </p:nvSpPr>
        <p:spPr>
          <a:xfrm rot="-5400000">
            <a:off x="4279106" y="-4279106"/>
            <a:ext cx="585789" cy="9144000"/>
          </a:xfrm>
          <a:prstGeom prst="rect">
            <a:avLst/>
          </a:prstGeom>
          <a:gradFill>
            <a:gsLst>
              <a:gs pos="0">
                <a:srgbClr val="F4F7FB"/>
              </a:gs>
              <a:gs pos="66000">
                <a:srgbClr val="ABB8DB"/>
              </a:gs>
              <a:gs pos="87000">
                <a:srgbClr val="C7CFE6"/>
              </a:gs>
              <a:gs pos="97279">
                <a:srgbClr val="DEEAF5"/>
              </a:gs>
              <a:gs pos="100000">
                <a:srgbClr val="DEEAF5"/>
              </a:gs>
            </a:gsLst>
            <a:lin ang="5400000" scaled="0"/>
          </a:gra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2" name="Google Shape;162;p17"/>
          <p:cNvSpPr txBox="1">
            <a:spLocks noGrp="1"/>
          </p:cNvSpPr>
          <p:nvPr>
            <p:ph type="title"/>
          </p:nvPr>
        </p:nvSpPr>
        <p:spPr>
          <a:xfrm>
            <a:off x="169038" y="8302"/>
            <a:ext cx="8236807" cy="5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>
            <a:spLocks noGrp="1"/>
          </p:cNvSpPr>
          <p:nvPr>
            <p:ph type="ctrTitle"/>
          </p:nvPr>
        </p:nvSpPr>
        <p:spPr>
          <a:xfrm>
            <a:off x="134894" y="1551215"/>
            <a:ext cx="7240815" cy="120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1"/>
          </p:nvPr>
        </p:nvSpPr>
        <p:spPr>
          <a:xfrm>
            <a:off x="134894" y="2823387"/>
            <a:ext cx="7240816" cy="630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title"/>
          </p:nvPr>
        </p:nvSpPr>
        <p:spPr>
          <a:xfrm>
            <a:off x="1057520" y="207065"/>
            <a:ext cx="7028962" cy="8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body" idx="1"/>
          </p:nvPr>
        </p:nvSpPr>
        <p:spPr>
          <a:xfrm>
            <a:off x="1057276" y="1167211"/>
            <a:ext cx="3457574" cy="346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48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1pPr>
            <a:lvl2pPr marL="914400" lvl="1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825"/>
            </a:lvl2pPr>
            <a:lvl3pPr marL="1371600" lvl="2" indent="-2952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788"/>
            </a:lvl3pPr>
            <a:lvl4pPr marL="1828800" lvl="3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750"/>
            </a:lvl4pPr>
            <a:lvl5pPr marL="2286000" lvl="4" indent="-2921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75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2"/>
          </p:nvPr>
        </p:nvSpPr>
        <p:spPr>
          <a:xfrm>
            <a:off x="4629151" y="1167211"/>
            <a:ext cx="3457331" cy="346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650"/>
            </a:lvl1pPr>
            <a:lvl2pPr marL="914400" marR="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/>
            </a:lvl2pPr>
            <a:lvl3pPr marL="1371600" marR="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3pPr>
            <a:lvl4pPr marL="1828800" marR="0" lvl="3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4pPr>
            <a:lvl5pPr marL="2286000" marR="0" lvl="4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1057520" y="207065"/>
            <a:ext cx="7028962" cy="8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1"/>
          </p:nvPr>
        </p:nvSpPr>
        <p:spPr>
          <a:xfrm>
            <a:off x="1057274" y="1165860"/>
            <a:ext cx="3456432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body" idx="2"/>
          </p:nvPr>
        </p:nvSpPr>
        <p:spPr>
          <a:xfrm>
            <a:off x="1057274" y="1825611"/>
            <a:ext cx="3456432" cy="285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165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3pPr>
            <a:lvl4pPr marL="1828800" lvl="3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4pPr>
            <a:lvl5pPr marL="2286000" lvl="4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body" idx="3"/>
          </p:nvPr>
        </p:nvSpPr>
        <p:spPr>
          <a:xfrm>
            <a:off x="4629150" y="1165860"/>
            <a:ext cx="3457575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4"/>
          </p:nvPr>
        </p:nvSpPr>
        <p:spPr>
          <a:xfrm>
            <a:off x="4629150" y="1825611"/>
            <a:ext cx="3457575" cy="285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165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3pPr>
            <a:lvl4pPr marL="1828800" lvl="3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4pPr>
            <a:lvl5pPr marL="2286000" lvl="4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Report Page - side banner">
  <p:cSld name="1_Report Page - side bann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/>
        </p:nvSpPr>
        <p:spPr>
          <a:xfrm>
            <a:off x="0" y="585790"/>
            <a:ext cx="556022" cy="438626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364A7D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9" name="Google Shape;179;p24"/>
          <p:cNvSpPr/>
          <p:nvPr/>
        </p:nvSpPr>
        <p:spPr>
          <a:xfrm rot="-5400000">
            <a:off x="4279106" y="-4279106"/>
            <a:ext cx="585789" cy="9144000"/>
          </a:xfrm>
          <a:prstGeom prst="rect">
            <a:avLst/>
          </a:prstGeom>
          <a:gradFill>
            <a:gsLst>
              <a:gs pos="0">
                <a:srgbClr val="F4F7FB"/>
              </a:gs>
              <a:gs pos="66000">
                <a:srgbClr val="ABB8DB"/>
              </a:gs>
              <a:gs pos="87000">
                <a:srgbClr val="C7CFE6"/>
              </a:gs>
              <a:gs pos="97279">
                <a:srgbClr val="DEEAF5"/>
              </a:gs>
              <a:gs pos="100000">
                <a:srgbClr val="DEEAF5"/>
              </a:gs>
            </a:gsLst>
            <a:lin ang="5400000" scaled="0"/>
          </a:gra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169038" y="8302"/>
            <a:ext cx="8236807" cy="5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port Page - title only">
  <p:cSld name="Report Page - title 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/>
          <p:nvPr/>
        </p:nvSpPr>
        <p:spPr>
          <a:xfrm rot="-5400000">
            <a:off x="4279106" y="-4279106"/>
            <a:ext cx="585789" cy="9144000"/>
          </a:xfrm>
          <a:prstGeom prst="rect">
            <a:avLst/>
          </a:prstGeom>
          <a:gradFill>
            <a:gsLst>
              <a:gs pos="0">
                <a:srgbClr val="F4F7FB"/>
              </a:gs>
              <a:gs pos="66000">
                <a:srgbClr val="ABB8DB"/>
              </a:gs>
              <a:gs pos="87000">
                <a:srgbClr val="C7CFE6"/>
              </a:gs>
              <a:gs pos="97279">
                <a:srgbClr val="DEEAF5"/>
              </a:gs>
              <a:gs pos="100000">
                <a:srgbClr val="DEEAF5"/>
              </a:gs>
            </a:gsLst>
            <a:lin ang="5400000" scaled="0"/>
          </a:gra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169038" y="8302"/>
            <a:ext cx="8236807" cy="5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r>
              <a:rPr lang="en-GB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Insert title </a:t>
            </a:r>
            <a:endParaRPr sz="10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no cic logo">
  <p:cSld name="Blank - no cic logo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27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5011825" y="689712"/>
            <a:ext cx="3116717" cy="189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1057275" y="686942"/>
            <a:ext cx="3912734" cy="379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650"/>
            </a:lvl1pPr>
            <a:lvl2pPr marL="914400" marR="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/>
            </a:lvl2pPr>
            <a:lvl3pPr marL="1371600" marR="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3pPr>
            <a:lvl4pPr marL="1828800" marR="0" lvl="3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4pPr>
            <a:lvl5pPr marL="2286000" marR="0" lvl="4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5pPr>
            <a:lvl6pPr marL="2743200" lvl="5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3200400" lvl="6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3657600" lvl="7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4114800" lvl="8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body" idx="2"/>
          </p:nvPr>
        </p:nvSpPr>
        <p:spPr>
          <a:xfrm>
            <a:off x="5011825" y="2626614"/>
            <a:ext cx="3116717" cy="185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825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94" name="Google Shape;194;p28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5011826" y="689712"/>
            <a:ext cx="3116717" cy="189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rbe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9" descr="An empty placeholder to add an image. Click on the placeholder and select the image that you wish to add"/>
          <p:cNvSpPr>
            <a:spLocks noGrp="1"/>
          </p:cNvSpPr>
          <p:nvPr>
            <p:ph type="pic" idx="2"/>
          </p:nvPr>
        </p:nvSpPr>
        <p:spPr>
          <a:xfrm>
            <a:off x="0" y="686942"/>
            <a:ext cx="4970008" cy="3799332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29"/>
          <p:cNvSpPr txBox="1">
            <a:spLocks noGrp="1"/>
          </p:cNvSpPr>
          <p:nvPr>
            <p:ph type="body" idx="1"/>
          </p:nvPr>
        </p:nvSpPr>
        <p:spPr>
          <a:xfrm>
            <a:off x="5011826" y="2626615"/>
            <a:ext cx="3116717" cy="185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825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title"/>
          </p:nvPr>
        </p:nvSpPr>
        <p:spPr>
          <a:xfrm rot="5400000">
            <a:off x="5070277" y="1616274"/>
            <a:ext cx="4489847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body" idx="1"/>
          </p:nvPr>
        </p:nvSpPr>
        <p:spPr>
          <a:xfrm rot="5400000">
            <a:off x="1284090" y="-512564"/>
            <a:ext cx="4489847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>
            <a:spLocks noGrp="1"/>
          </p:cNvSpPr>
          <p:nvPr>
            <p:ph type="ctrTitle"/>
          </p:nvPr>
        </p:nvSpPr>
        <p:spPr>
          <a:xfrm>
            <a:off x="134894" y="1551215"/>
            <a:ext cx="7240815" cy="1203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4" name="Google Shape;14;p10"/>
          <p:cNvSpPr txBox="1">
            <a:spLocks noGrp="1"/>
          </p:cNvSpPr>
          <p:nvPr>
            <p:ph type="subTitle" idx="1"/>
          </p:nvPr>
        </p:nvSpPr>
        <p:spPr>
          <a:xfrm>
            <a:off x="134894" y="2823387"/>
            <a:ext cx="7240816" cy="630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5041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163996" y="1"/>
            <a:ext cx="8788676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163996" y="1093554"/>
            <a:ext cx="8788676" cy="336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2599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201268" y="1"/>
            <a:ext cx="8706677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01268" y="1095374"/>
            <a:ext cx="4313582" cy="340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/>
            </a:lvl1pPr>
            <a:lvl2pPr marL="685800" lvl="1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400"/>
              <a:buFont typeface="Arial"/>
              <a:buChar char="•"/>
              <a:defRPr/>
            </a:lvl2pPr>
            <a:lvl3pPr marL="1028700" lvl="2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Font typeface="Arial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Google Shape;21;p12"/>
          <p:cNvSpPr txBox="1">
            <a:spLocks noGrp="1"/>
          </p:cNvSpPr>
          <p:nvPr>
            <p:ph type="body" idx="2"/>
          </p:nvPr>
        </p:nvSpPr>
        <p:spPr>
          <a:xfrm>
            <a:off x="4629150" y="1095374"/>
            <a:ext cx="4278796" cy="340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769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47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port Page - primary" preserve="1">
  <p:cSld name="Report Page - primar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Google Shape;23;p14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/>
          <p:nvPr/>
        </p:nvSpPr>
        <p:spPr>
          <a:xfrm rot="-5400000">
            <a:off x="4279106" y="-4279106"/>
            <a:ext cx="585789" cy="9144000"/>
          </a:xfrm>
          <a:prstGeom prst="rect">
            <a:avLst/>
          </a:prstGeom>
          <a:gradFill>
            <a:gsLst>
              <a:gs pos="0">
                <a:srgbClr val="F4F7FB"/>
              </a:gs>
              <a:gs pos="66000">
                <a:srgbClr val="ABB8DB"/>
              </a:gs>
              <a:gs pos="87000">
                <a:srgbClr val="C7CFE6"/>
              </a:gs>
              <a:gs pos="97279">
                <a:srgbClr val="DEEAF5"/>
              </a:gs>
              <a:gs pos="100000">
                <a:srgbClr val="DEEAF5"/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169038" y="8302"/>
            <a:ext cx="8236807" cy="5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813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>
            <a:spLocks noGrp="1"/>
          </p:cNvSpPr>
          <p:nvPr>
            <p:ph type="title"/>
          </p:nvPr>
        </p:nvSpPr>
        <p:spPr>
          <a:xfrm>
            <a:off x="1057520" y="207065"/>
            <a:ext cx="7028962" cy="8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1057276" y="1167211"/>
            <a:ext cx="3457574" cy="346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28600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900"/>
            </a:lvl1pPr>
            <a:lvl2pPr marL="685800" lvl="1" indent="-223838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825"/>
            </a:lvl2pPr>
            <a:lvl3pPr marL="1028700" lvl="2" indent="-221456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sz="788"/>
            </a:lvl3pPr>
            <a:lvl4pPr marL="1371600" lvl="3" indent="-2190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750"/>
            </a:lvl4pPr>
            <a:lvl5pPr marL="1714500" lvl="4" indent="-2190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750"/>
            </a:lvl5pPr>
            <a:lvl6pPr marL="2057400" lvl="5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2"/>
          </p:nvPr>
        </p:nvSpPr>
        <p:spPr>
          <a:xfrm>
            <a:off x="4629151" y="1167211"/>
            <a:ext cx="3457331" cy="346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marR="0" lvl="0" indent="-276225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650"/>
            </a:lvl1pPr>
            <a:lvl2pPr marL="685800" marR="0" lvl="1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/>
            </a:lvl2pPr>
            <a:lvl3pPr marL="1028700" marR="0" lvl="2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3pPr>
            <a:lvl4pPr marL="1371600" marR="0" lvl="3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4pPr>
            <a:lvl5pPr marL="1714500" marR="0" lvl="4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5pPr>
            <a:lvl6pPr marL="2057400" lvl="5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34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1057520" y="207065"/>
            <a:ext cx="7028962" cy="8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1057274" y="1165860"/>
            <a:ext cx="3456432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1pPr>
            <a:lvl2pPr marL="685800" lvl="1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1057274" y="1825611"/>
            <a:ext cx="3456432" cy="285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76225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1650"/>
            </a:lvl1pPr>
            <a:lvl2pPr marL="685800" lvl="1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3pPr>
            <a:lvl4pPr marL="1371600" lvl="3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4pPr>
            <a:lvl5pPr marL="1714500" lvl="4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5pPr>
            <a:lvl6pPr marL="2057400" lvl="5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3"/>
          </p:nvPr>
        </p:nvSpPr>
        <p:spPr>
          <a:xfrm>
            <a:off x="4629150" y="1165860"/>
            <a:ext cx="3457575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 b="1"/>
            </a:lvl1pPr>
            <a:lvl2pPr marL="685800" lvl="1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4"/>
          </p:nvPr>
        </p:nvSpPr>
        <p:spPr>
          <a:xfrm>
            <a:off x="4629150" y="1825611"/>
            <a:ext cx="3457575" cy="2858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76225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1650"/>
            </a:lvl1pPr>
            <a:lvl2pPr marL="685800" lvl="1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2pPr>
            <a:lvl3pPr marL="1028700" lvl="2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3pPr>
            <a:lvl4pPr marL="1371600" lvl="3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4pPr>
            <a:lvl5pPr marL="1714500" lvl="4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5pPr>
            <a:lvl6pPr marL="2057400" lvl="5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9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Report Page - side banner" preserve="1">
  <p:cSld name="1_Report Page - side bann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/>
          <p:nvPr/>
        </p:nvSpPr>
        <p:spPr>
          <a:xfrm>
            <a:off x="0" y="585790"/>
            <a:ext cx="556022" cy="4386260"/>
          </a:xfrm>
          <a:prstGeom prst="rect">
            <a:avLst/>
          </a:prstGeom>
          <a:solidFill>
            <a:srgbClr val="002060"/>
          </a:solidFill>
          <a:ln w="12700" cap="flat" cmpd="sng">
            <a:solidFill>
              <a:srgbClr val="364A7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" name="Google Shape;45;p17"/>
          <p:cNvSpPr/>
          <p:nvPr/>
        </p:nvSpPr>
        <p:spPr>
          <a:xfrm rot="-5400000">
            <a:off x="4279106" y="-4279106"/>
            <a:ext cx="585789" cy="9144000"/>
          </a:xfrm>
          <a:prstGeom prst="rect">
            <a:avLst/>
          </a:prstGeom>
          <a:gradFill>
            <a:gsLst>
              <a:gs pos="0">
                <a:srgbClr val="F4F7FB"/>
              </a:gs>
              <a:gs pos="66000">
                <a:srgbClr val="ABB8DB"/>
              </a:gs>
              <a:gs pos="87000">
                <a:srgbClr val="C7CFE6"/>
              </a:gs>
              <a:gs pos="97279">
                <a:srgbClr val="DEEAF5"/>
              </a:gs>
              <a:gs pos="100000">
                <a:srgbClr val="DEEAF5"/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" name="Google Shape;46;p17"/>
          <p:cNvSpPr txBox="1">
            <a:spLocks noGrp="1"/>
          </p:cNvSpPr>
          <p:nvPr>
            <p:ph type="title"/>
          </p:nvPr>
        </p:nvSpPr>
        <p:spPr>
          <a:xfrm>
            <a:off x="169038" y="8302"/>
            <a:ext cx="8236807" cy="5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972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port Page - title only" preserve="1">
  <p:cSld name="Report Page - 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/>
          <p:nvPr/>
        </p:nvSpPr>
        <p:spPr>
          <a:xfrm rot="-5400000">
            <a:off x="4279106" y="-4279106"/>
            <a:ext cx="585789" cy="9144000"/>
          </a:xfrm>
          <a:prstGeom prst="rect">
            <a:avLst/>
          </a:prstGeom>
          <a:gradFill>
            <a:gsLst>
              <a:gs pos="0">
                <a:srgbClr val="F4F7FB"/>
              </a:gs>
              <a:gs pos="66000">
                <a:srgbClr val="ABB8DB"/>
              </a:gs>
              <a:gs pos="87000">
                <a:srgbClr val="C7CFE6"/>
              </a:gs>
              <a:gs pos="97279">
                <a:srgbClr val="DEEAF5"/>
              </a:gs>
              <a:gs pos="100000">
                <a:srgbClr val="DEEAF5"/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" name="Google Shape;51;p18"/>
          <p:cNvSpPr txBox="1"/>
          <p:nvPr/>
        </p:nvSpPr>
        <p:spPr>
          <a:xfrm>
            <a:off x="169038" y="8302"/>
            <a:ext cx="8236807" cy="5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Insert title </a:t>
            </a:r>
            <a:endParaRPr sz="105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720318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895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no cic logo" preserve="1">
  <p:cSld name="Blank - no cic log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7" name="Google Shape;57;p20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054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5011825" y="689712"/>
            <a:ext cx="3116717" cy="189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1057275" y="686942"/>
            <a:ext cx="3912734" cy="379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marR="0" lvl="0" indent="-276225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650"/>
            </a:lvl1pPr>
            <a:lvl2pPr marL="685800" marR="0" lvl="1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/>
            </a:lvl2pPr>
            <a:lvl3pPr marL="1028700" marR="0" lvl="2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3pPr>
            <a:lvl4pPr marL="1371600" marR="0" lvl="3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4pPr>
            <a:lvl5pPr marL="1714500" marR="0" lvl="4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/>
            </a:lvl5pPr>
            <a:lvl6pPr marL="2057400" lvl="5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5011825" y="2626614"/>
            <a:ext cx="3116717" cy="185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825"/>
            </a:lvl1pPr>
            <a:lvl2pPr marL="685800" lvl="1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Google Shape;62;p21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311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>
            <a:spLocks noGrp="1"/>
          </p:cNvSpPr>
          <p:nvPr>
            <p:ph type="title"/>
          </p:nvPr>
        </p:nvSpPr>
        <p:spPr>
          <a:xfrm>
            <a:off x="5011826" y="689712"/>
            <a:ext cx="3116717" cy="189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rbe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22" descr="An empty placeholder to add an image. Click on the placeholder and select the image that you wish to add"/>
          <p:cNvSpPr>
            <a:spLocks noGrp="1"/>
          </p:cNvSpPr>
          <p:nvPr>
            <p:ph type="pic" idx="2"/>
          </p:nvPr>
        </p:nvSpPr>
        <p:spPr>
          <a:xfrm>
            <a:off x="0" y="686942"/>
            <a:ext cx="4970008" cy="3799332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2"/>
          <p:cNvSpPr txBox="1">
            <a:spLocks noGrp="1"/>
          </p:cNvSpPr>
          <p:nvPr>
            <p:ph type="body" idx="1"/>
          </p:nvPr>
        </p:nvSpPr>
        <p:spPr>
          <a:xfrm>
            <a:off x="5011826" y="2626615"/>
            <a:ext cx="3116717" cy="185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825"/>
            </a:lvl1pPr>
            <a:lvl2pPr marL="685800" lvl="1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22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973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>
            <a:spLocks noGrp="1"/>
          </p:cNvSpPr>
          <p:nvPr>
            <p:ph type="title"/>
          </p:nvPr>
        </p:nvSpPr>
        <p:spPr>
          <a:xfrm>
            <a:off x="1057520" y="207065"/>
            <a:ext cx="7028962" cy="8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body" idx="1"/>
          </p:nvPr>
        </p:nvSpPr>
        <p:spPr>
          <a:xfrm rot="5400000">
            <a:off x="2839245" y="-607224"/>
            <a:ext cx="3465512" cy="702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4" name="Google Shape;74;p23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10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 rot="5400000">
            <a:off x="5070277" y="1616274"/>
            <a:ext cx="4489847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1"/>
          </p:nvPr>
        </p:nvSpPr>
        <p:spPr>
          <a:xfrm rot="5400000">
            <a:off x="1284090" y="-512564"/>
            <a:ext cx="4489847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9" name="Google Shape;79;p24"/>
          <p:cNvSpPr txBox="1">
            <a:spLocks noGrp="1"/>
          </p:cNvSpPr>
          <p:nvPr>
            <p:ph type="dt" idx="10"/>
          </p:nvPr>
        </p:nvSpPr>
        <p:spPr>
          <a:xfrm>
            <a:off x="340052" y="4972050"/>
            <a:ext cx="75049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499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title"/>
          </p:nvPr>
        </p:nvSpPr>
        <p:spPr>
          <a:xfrm>
            <a:off x="163285" y="14552"/>
            <a:ext cx="8792936" cy="96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1"/>
          </p:nvPr>
        </p:nvSpPr>
        <p:spPr>
          <a:xfrm>
            <a:off x="163285" y="1109926"/>
            <a:ext cx="8792936" cy="346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4783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2D833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1057520" y="207065"/>
            <a:ext cx="7028962" cy="8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 sz="2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body" idx="1"/>
          </p:nvPr>
        </p:nvSpPr>
        <p:spPr>
          <a:xfrm>
            <a:off x="1057520" y="1174501"/>
            <a:ext cx="7028961" cy="346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048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07801" y="4734924"/>
            <a:ext cx="8836199" cy="40302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9" r:id="rId8"/>
    <p:sldLayoutId id="2147483680" r:id="rId9"/>
    <p:sldLayoutId id="2147483681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163285" y="14552"/>
            <a:ext cx="8792936" cy="96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163285" y="1109926"/>
            <a:ext cx="8792936" cy="346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4783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2D833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67479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title"/>
          </p:nvPr>
        </p:nvSpPr>
        <p:spPr>
          <a:xfrm>
            <a:off x="1057520" y="207065"/>
            <a:ext cx="7028962" cy="88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bel"/>
              <a:buNone/>
              <a:defRPr sz="24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body" idx="1"/>
          </p:nvPr>
        </p:nvSpPr>
        <p:spPr>
          <a:xfrm>
            <a:off x="1057520" y="1174501"/>
            <a:ext cx="7028961" cy="346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048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0" y="4972050"/>
            <a:ext cx="30780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25" b="0" i="0" u="none" strike="noStrike" cap="none">
                <a:solidFill>
                  <a:srgbClr val="253356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B0BA3B-D0CB-60B8-CAFB-BFC244B01D3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801" y="4734924"/>
            <a:ext cx="8836199" cy="40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376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6;p1">
            <a:extLst>
              <a:ext uri="{FF2B5EF4-FFF2-40B4-BE49-F238E27FC236}">
                <a16:creationId xmlns:a16="http://schemas.microsoft.com/office/drawing/2014/main" id="{2CFF7BBC-69DC-4261-DBEC-977991D0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4307" y="752029"/>
            <a:ext cx="3787334" cy="2250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rmAutofit fontScale="90000"/>
          </a:bodyPr>
          <a:lstStyle/>
          <a:p>
            <a:pPr>
              <a:buClr>
                <a:schemeClr val="lt1"/>
              </a:buClr>
              <a:buSzPct val="111111"/>
            </a:pPr>
            <a:br>
              <a:rPr lang="en-US" sz="2400" dirty="0">
                <a:latin typeface="Tahoma"/>
                <a:ea typeface="Tahoma"/>
                <a:cs typeface="Tahoma"/>
                <a:sym typeface="Tahoma"/>
              </a:rPr>
            </a:br>
            <a:br>
              <a:rPr lang="en-US" sz="2400" dirty="0">
                <a:latin typeface="Tahoma"/>
                <a:ea typeface="Tahoma"/>
                <a:cs typeface="Tahoma"/>
                <a:sym typeface="Tahoma"/>
              </a:rPr>
            </a:br>
            <a:br>
              <a:rPr lang="en-US" sz="2400" dirty="0">
                <a:latin typeface="Tahoma"/>
                <a:ea typeface="Tahoma"/>
                <a:cs typeface="Tahoma"/>
                <a:sym typeface="Tahoma"/>
              </a:rPr>
            </a:br>
            <a:r>
              <a:rPr lang="en-GB" sz="4000" dirty="0"/>
              <a:t>Updates on 3D </a:t>
            </a:r>
            <a:r>
              <a:rPr lang="en-GB" sz="4000" dirty="0" err="1"/>
              <a:t>OpenROAD</a:t>
            </a:r>
            <a:r>
              <a:rPr lang="en-GB" sz="4000" dirty="0"/>
              <a:t> Database</a:t>
            </a:r>
            <a:endParaRPr dirty="0"/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8CC4F2B2-C0A6-2263-0FB9-35269B766F3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55800" y="3038960"/>
            <a:ext cx="4216200" cy="80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55000" lnSpcReduction="20000"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1946"/>
            </a:pPr>
            <a:endParaRPr dirty="0"/>
          </a:p>
          <a:p>
            <a:pPr marL="0" lvl="0" indent="0" algn="ctr">
              <a:spcBef>
                <a:spcPts val="0"/>
              </a:spcBef>
              <a:buSzPts val="1120"/>
              <a:buNone/>
            </a:pPr>
            <a:r>
              <a:rPr lang="en-GB" b="1"/>
              <a:t>Osama Hammad</a:t>
            </a:r>
            <a:endParaRPr lang="en-GB" b="1" dirty="0"/>
          </a:p>
          <a:p>
            <a:pPr marL="0" lvl="0" indent="0" algn="ctr">
              <a:spcBef>
                <a:spcPts val="0"/>
              </a:spcBef>
              <a:buSzPts val="1120"/>
              <a:buNone/>
            </a:pPr>
            <a:endParaRPr lang="en-GB" b="1" dirty="0"/>
          </a:p>
          <a:p>
            <a:pPr marL="0" lvl="0" indent="0" algn="ctr">
              <a:spcBef>
                <a:spcPts val="0"/>
              </a:spcBef>
              <a:buSzPts val="1120"/>
              <a:buNone/>
            </a:pPr>
            <a:r>
              <a:rPr lang="en-GB" b="1" dirty="0"/>
              <a:t>Cho Moon</a:t>
            </a:r>
            <a:endParaRPr lang="en-GB" dirty="0"/>
          </a:p>
        </p:txBody>
      </p:sp>
      <p:sp>
        <p:nvSpPr>
          <p:cNvPr id="8" name="Google Shape;87;p1">
            <a:extLst>
              <a:ext uri="{FF2B5EF4-FFF2-40B4-BE49-F238E27FC236}">
                <a16:creationId xmlns:a16="http://schemas.microsoft.com/office/drawing/2014/main" id="{DFFED4A1-3BB0-C178-E10D-AEAF1A395235}"/>
              </a:ext>
            </a:extLst>
          </p:cNvPr>
          <p:cNvSpPr txBox="1"/>
          <p:nvPr/>
        </p:nvSpPr>
        <p:spPr>
          <a:xfrm>
            <a:off x="6226304" y="3799517"/>
            <a:ext cx="2457670" cy="72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buClr>
                <a:srgbClr val="222222"/>
              </a:buClr>
              <a:buSzPts val="1400"/>
            </a:pPr>
            <a:r>
              <a:rPr lang="en-US" sz="105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 Innovations is the primary industrial developer of OpenROAD and provides commercial support and customization for OpenROAD.</a:t>
            </a:r>
            <a:br>
              <a:rPr lang="en-US" sz="105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9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5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5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50" i="1" dirty="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" name="Google Shape;88;p1">
            <a:extLst>
              <a:ext uri="{FF2B5EF4-FFF2-40B4-BE49-F238E27FC236}">
                <a16:creationId xmlns:a16="http://schemas.microsoft.com/office/drawing/2014/main" id="{17E58D3E-34D2-BFA7-7B42-6A9065EDF468}"/>
              </a:ext>
            </a:extLst>
          </p:cNvPr>
          <p:cNvSpPr txBox="1"/>
          <p:nvPr/>
        </p:nvSpPr>
        <p:spPr>
          <a:xfrm>
            <a:off x="6226303" y="3002907"/>
            <a:ext cx="2050773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SzPts val="4000"/>
            </a:pPr>
            <a:r>
              <a:rPr lang="en-US" sz="3000" dirty="0"/>
              <a:t>precision</a:t>
            </a:r>
            <a:endParaRPr sz="36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" name="Google Shape;89;p1">
            <a:extLst>
              <a:ext uri="{FF2B5EF4-FFF2-40B4-BE49-F238E27FC236}">
                <a16:creationId xmlns:a16="http://schemas.microsoft.com/office/drawing/2014/main" id="{8951F6D9-D9B9-2087-08E1-1CCE337F37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7772" y="2984907"/>
            <a:ext cx="578609" cy="548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"/>
          <p:cNvSpPr txBox="1">
            <a:spLocks noGrp="1"/>
          </p:cNvSpPr>
          <p:nvPr>
            <p:ph type="title"/>
          </p:nvPr>
        </p:nvSpPr>
        <p:spPr>
          <a:xfrm>
            <a:off x="355600" y="175000"/>
            <a:ext cx="843280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US" sz="3200" b="1" dirty="0">
                <a:solidFill>
                  <a:srgbClr val="000000"/>
                </a:solidFill>
                <a:latin typeface="Arial"/>
              </a:rPr>
              <a:t>P&amp;R for 3D IC Designs</a:t>
            </a:r>
          </a:p>
        </p:txBody>
      </p:sp>
      <p:sp>
        <p:nvSpPr>
          <p:cNvPr id="224" name="Google Shape;224;p2"/>
          <p:cNvSpPr txBox="1">
            <a:spLocks noGrp="1"/>
          </p:cNvSpPr>
          <p:nvPr>
            <p:ph type="body" idx="1"/>
          </p:nvPr>
        </p:nvSpPr>
        <p:spPr>
          <a:xfrm>
            <a:off x="163513" y="1020000"/>
            <a:ext cx="3743391" cy="33500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lvl="0">
              <a:spcAft>
                <a:spcPts val="500"/>
              </a:spcAft>
            </a:pPr>
            <a:r>
              <a:rPr lang="en-US" dirty="0" err="1"/>
              <a:t>OpenROAD</a:t>
            </a:r>
            <a:r>
              <a:rPr lang="en-US" dirty="0"/>
              <a:t> database (ODB) has been enhanced to read, write, visualize, analyze and optimize 3D designs</a:t>
            </a:r>
          </a:p>
          <a:p>
            <a:pPr lvl="1">
              <a:spcAft>
                <a:spcPts val="500"/>
              </a:spcAft>
            </a:pPr>
            <a:r>
              <a:rPr lang="en-US" dirty="0"/>
              <a:t>We want to invite more adoption of open-source tools and improve collaboration</a:t>
            </a:r>
          </a:p>
          <a:p>
            <a:pPr lvl="0">
              <a:spcAft>
                <a:spcPts val="500"/>
              </a:spcAft>
            </a:pPr>
            <a:r>
              <a:rPr lang="en-US" dirty="0"/>
              <a:t>3Dblox format is used for design I/O</a:t>
            </a:r>
          </a:p>
          <a:p>
            <a:pPr lvl="0">
              <a:spcAft>
                <a:spcPts val="500"/>
              </a:spcAft>
            </a:pPr>
            <a:r>
              <a:rPr lang="en-US" dirty="0"/>
              <a:t>One design = multiple dies, multiple processes, bonded together</a:t>
            </a:r>
          </a:p>
          <a:p>
            <a:pPr lvl="1">
              <a:spcAft>
                <a:spcPts val="500"/>
              </a:spcAft>
            </a:pPr>
            <a:r>
              <a:rPr lang="en-US" dirty="0"/>
              <a:t>Each die/chiplet can have its own PDK and </a:t>
            </a:r>
            <a:r>
              <a:rPr lang="en-US" dirty="0" err="1"/>
              <a:t>TechLEF</a:t>
            </a:r>
            <a:endParaRPr lang="en-US" dirty="0"/>
          </a:p>
          <a:p>
            <a:pPr lvl="0">
              <a:spcAft>
                <a:spcPts val="500"/>
              </a:spcAft>
            </a:pPr>
            <a:r>
              <a:rPr lang="en-US" dirty="0"/>
              <a:t>ODB now models this end to end with persistency (</a:t>
            </a:r>
            <a:r>
              <a:rPr lang="en-US" dirty="0" err="1"/>
              <a:t>write_db</a:t>
            </a:r>
            <a:r>
              <a:rPr lang="en-US" dirty="0"/>
              <a:t> &amp; </a:t>
            </a:r>
            <a:r>
              <a:rPr lang="en-US" dirty="0" err="1"/>
              <a:t>read_db</a:t>
            </a:r>
            <a:r>
              <a:rPr lang="en-US" dirty="0"/>
              <a:t> without data loss)</a:t>
            </a:r>
          </a:p>
          <a:p>
            <a:pPr lvl="1">
              <a:spcAft>
                <a:spcPts val="500"/>
              </a:spcAft>
            </a:pPr>
            <a:r>
              <a:rPr lang="en-US" dirty="0"/>
              <a:t>“Unfolded view” is available to enable full chip analysis for linting, visualization, timing analysis</a:t>
            </a:r>
          </a:p>
          <a:p>
            <a:pPr lvl="0">
              <a:spcAft>
                <a:spcPts val="500"/>
              </a:spcAft>
            </a:pPr>
            <a:r>
              <a:rPr lang="en-US" dirty="0"/>
              <a:t>No more layer stack “hacks” for 3D designs</a:t>
            </a:r>
          </a:p>
          <a:p>
            <a:pPr lvl="0">
              <a:spcAft>
                <a:spcPts val="500"/>
              </a:spcAft>
            </a:pPr>
            <a:endParaRPr lang="en-US" dirty="0"/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06904" y="1620203"/>
            <a:ext cx="5073583" cy="210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"/>
          <p:cNvSpPr txBox="1">
            <a:spLocks noGrp="1"/>
          </p:cNvSpPr>
          <p:nvPr>
            <p:ph type="title"/>
          </p:nvPr>
        </p:nvSpPr>
        <p:spPr>
          <a:xfrm>
            <a:off x="355600" y="175000"/>
            <a:ext cx="843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Trebuchet MS"/>
              <a:buNone/>
            </a:pPr>
            <a:r>
              <a:rPr lang="en-GB" sz="3200" b="1" dirty="0">
                <a:solidFill>
                  <a:srgbClr val="000000"/>
                </a:solidFill>
                <a:latin typeface="Arial"/>
              </a:rPr>
              <a:t>3D </a:t>
            </a:r>
            <a:r>
              <a:rPr lang="en-GB" sz="3200" b="1">
                <a:solidFill>
                  <a:srgbClr val="000000"/>
                </a:solidFill>
                <a:latin typeface="Arial"/>
              </a:rPr>
              <a:t>Viewer and Linter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45" name="Google Shape;245;p4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096" y="1377239"/>
            <a:ext cx="4653748" cy="25603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p4"/>
          <p:cNvGraphicFramePr/>
          <p:nvPr>
            <p:extLst>
              <p:ext uri="{D42A27DB-BD31-4B8C-83A1-F6EECF244321}">
                <p14:modId xmlns:p14="http://schemas.microsoft.com/office/powerpoint/2010/main" val="1014155149"/>
              </p:ext>
            </p:extLst>
          </p:nvPr>
        </p:nvGraphicFramePr>
        <p:xfrm>
          <a:off x="5382681" y="1377239"/>
          <a:ext cx="3587898" cy="3291760"/>
        </p:xfrm>
        <a:graphic>
          <a:graphicData uri="http://schemas.openxmlformats.org/drawingml/2006/table">
            <a:tbl>
              <a:tblPr>
                <a:noFill/>
                <a:tableStyleId>{21D39352-0759-4F8E-9E60-645504D6BA97}</a:tableStyleId>
              </a:tblPr>
              <a:tblGrid>
                <a:gridCol w="899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0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Check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rebuchet MS"/>
                        <a:buNone/>
                      </a:pPr>
                      <a:r>
                        <a:rPr lang="en-GB" sz="1100" u="none" strike="noStrike" cap="none">
                          <a:solidFill>
                            <a:schemeClr val="dk1"/>
                          </a:solidFill>
                        </a:rPr>
                        <a:t>Purpose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rebuchet MS"/>
                        <a:buNone/>
                      </a:pPr>
                      <a:r>
                        <a:rPr lang="en-GB" sz="800" b="1" u="none" strike="noStrike" cap="none">
                          <a:solidFill>
                            <a:schemeClr val="dk1"/>
                          </a:solidFill>
                        </a:rPr>
                        <a:t>Logical connectivity</a:t>
                      </a: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Trebuchet MS"/>
                        <a:buNone/>
                      </a:pP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Physically aligned bump pairs that belong to different nets.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rebuchet MS"/>
                        <a:buNone/>
                      </a:pPr>
                      <a:r>
                        <a:rPr lang="en-GB" sz="800" b="1" u="none" strike="noStrike" cap="none" dirty="0">
                          <a:solidFill>
                            <a:schemeClr val="dk1"/>
                          </a:solidFill>
                        </a:rPr>
                        <a:t>Floating chips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Trebuchet MS"/>
                        <a:buNone/>
                      </a:pP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Flags chip sets that aren't reachable to "ground". They're floating in the design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rebuchet MS"/>
                        <a:buNone/>
                      </a:pPr>
                      <a:r>
                        <a:rPr lang="en-GB" sz="800" b="1" u="none" strike="noStrike" cap="none" dirty="0">
                          <a:solidFill>
                            <a:schemeClr val="dk1"/>
                          </a:solidFill>
                        </a:rPr>
                        <a:t>Overlapping chips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Trebuchet MS"/>
                        <a:buNone/>
                      </a:pP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die chiplets whose 3D bounding boxes overlap.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rebuchet MS"/>
                        <a:buNone/>
                      </a:pPr>
                      <a:r>
                        <a:rPr lang="en-GB" sz="800" b="1" u="none" strike="noStrike" cap="none">
                          <a:solidFill>
                            <a:schemeClr val="dk1"/>
                          </a:solidFill>
                        </a:rPr>
                        <a:t>Internal-ext usage</a:t>
                      </a: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Trebuchet MS"/>
                        <a:buNone/>
                      </a:pP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INTERNAL_EXT regions not referenced by any connection.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rebuchet MS"/>
                        <a:buNone/>
                      </a:pPr>
                      <a:r>
                        <a:rPr lang="en-GB" sz="800" b="1" u="none" strike="noStrike" cap="none">
                          <a:solidFill>
                            <a:schemeClr val="dk1"/>
                          </a:solidFill>
                        </a:rPr>
                        <a:t>Connection regions</a:t>
                      </a:r>
                      <a:endParaRPr sz="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Trebuchet MS"/>
                        <a:buNone/>
                      </a:pP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Connections whose regions don't </a:t>
                      </a:r>
                      <a:r>
                        <a:rPr lang="en-GB" sz="900" u="none" strike="noStrike" cap="none" dirty="0" err="1">
                          <a:solidFill>
                            <a:schemeClr val="dk1"/>
                          </a:solidFill>
                        </a:rPr>
                        <a:t>xy</a:t>
                      </a: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-overlap or whose mating-surface gap mismatches the connection thickness.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rebuchet MS"/>
                        <a:buNone/>
                      </a:pPr>
                      <a:r>
                        <a:rPr lang="en-GB" sz="800" b="1" u="none" strike="noStrike" cap="none" dirty="0">
                          <a:solidFill>
                            <a:schemeClr val="dk1"/>
                          </a:solidFill>
                        </a:rPr>
                        <a:t>Bump physical alignment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Trebuchet MS"/>
                        <a:buNone/>
                      </a:pP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Bumps sitting outside their parent region's footprint.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3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Trebuchet MS"/>
                        <a:buNone/>
                      </a:pPr>
                      <a:r>
                        <a:rPr lang="en-GB" sz="800" b="1" u="none" strike="noStrike" cap="none" dirty="0">
                          <a:solidFill>
                            <a:schemeClr val="dk1"/>
                          </a:solidFill>
                        </a:rPr>
                        <a:t>Alignment markers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Trebuchet MS"/>
                        <a:buNone/>
                      </a:pPr>
                      <a:r>
                        <a:rPr lang="en-GB" sz="900" u="none" strike="noStrike" cap="none" dirty="0">
                          <a:solidFill>
                            <a:schemeClr val="dk1"/>
                          </a:solidFill>
                        </a:rPr>
                        <a:t>Missing, duplicate, or mis-oriented alignment markers between connected chips.</a:t>
                      </a:r>
                      <a:endParaRPr sz="9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68575" marB="6857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"/>
          <p:cNvSpPr txBox="1">
            <a:spLocks noGrp="1"/>
          </p:cNvSpPr>
          <p:nvPr>
            <p:ph type="title"/>
          </p:nvPr>
        </p:nvSpPr>
        <p:spPr>
          <a:xfrm>
            <a:off x="355600" y="175000"/>
            <a:ext cx="843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Trebuchet MS"/>
              <a:buNone/>
            </a:pPr>
            <a:r>
              <a:rPr lang="en-GB" sz="3200" b="1" dirty="0">
                <a:solidFill>
                  <a:srgbClr val="000000"/>
                </a:solidFill>
                <a:latin typeface="Arial"/>
              </a:rPr>
              <a:t>3D STA and RC Extractor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54" name="Google Shape;25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916" y="1268017"/>
            <a:ext cx="4829175" cy="336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1403" y="1096566"/>
            <a:ext cx="3164681" cy="370760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5"/>
          <p:cNvSpPr/>
          <p:nvPr/>
        </p:nvSpPr>
        <p:spPr>
          <a:xfrm>
            <a:off x="5454609" y="2229986"/>
            <a:ext cx="2829493" cy="304295"/>
          </a:xfrm>
          <a:prstGeom prst="rect">
            <a:avLst/>
          </a:prstGeom>
          <a:noFill/>
          <a:ln w="19050" cap="rnd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>
            <a:spLocks noGrp="1"/>
          </p:cNvSpPr>
          <p:nvPr>
            <p:ph type="title"/>
          </p:nvPr>
        </p:nvSpPr>
        <p:spPr>
          <a:xfrm>
            <a:off x="355600" y="175000"/>
            <a:ext cx="843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Trebuchet MS"/>
              <a:buNone/>
            </a:pPr>
            <a:r>
              <a:rPr lang="en-GB" sz="3200" b="1" dirty="0">
                <a:solidFill>
                  <a:srgbClr val="000000"/>
                </a:solidFill>
                <a:latin typeface="Arial"/>
              </a:rPr>
              <a:t>Yield Analysis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62" name="Google Shape;262;p6"/>
          <p:cNvSpPr txBox="1">
            <a:spLocks noGrp="1"/>
          </p:cNvSpPr>
          <p:nvPr>
            <p:ph type="body" idx="1"/>
          </p:nvPr>
        </p:nvSpPr>
        <p:spPr>
          <a:xfrm>
            <a:off x="614984" y="1181696"/>
            <a:ext cx="7886700" cy="855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rmAutofit fontScale="55000" lnSpcReduction="20000"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ts val="1300"/>
              <a:buChar char="►"/>
            </a:pPr>
            <a:r>
              <a:rPr lang="en-GB" dirty="0"/>
              <a:t>YAP from UCLA has been integrated into </a:t>
            </a:r>
            <a:r>
              <a:rPr lang="en-GB" dirty="0" err="1"/>
              <a:t>OpenROAD</a:t>
            </a:r>
            <a:r>
              <a:rPr lang="en-GB" dirty="0"/>
              <a:t> via a file-based interface</a:t>
            </a:r>
            <a:endParaRPr dirty="0"/>
          </a:p>
          <a:p>
            <a:pPr marL="514350" lvl="1" indent="-171450" algn="l" rtl="0">
              <a:spcBef>
                <a:spcPts val="750"/>
              </a:spcBef>
              <a:spcAft>
                <a:spcPts val="0"/>
              </a:spcAft>
              <a:buSzPts val="1200"/>
              <a:buChar char="►"/>
            </a:pPr>
            <a:r>
              <a:rPr lang="en-GB" dirty="0"/>
              <a:t>Bond failure can be analysed</a:t>
            </a:r>
            <a:endParaRPr dirty="0"/>
          </a:p>
          <a:p>
            <a:pPr marL="514350" lvl="1" indent="-171450" algn="l" rtl="0">
              <a:spcBef>
                <a:spcPts val="750"/>
              </a:spcBef>
              <a:spcAft>
                <a:spcPts val="0"/>
              </a:spcAft>
              <a:buSzPts val="1200"/>
              <a:buChar char="►"/>
            </a:pPr>
            <a:r>
              <a:rPr lang="en-GB" dirty="0"/>
              <a:t>Heat map can be displayed</a:t>
            </a:r>
            <a:endParaRPr dirty="0"/>
          </a:p>
        </p:txBody>
      </p:sp>
      <p:pic>
        <p:nvPicPr>
          <p:cNvPr id="263" name="Google Shape;2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8857" y="2037145"/>
            <a:ext cx="4866285" cy="2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"/>
          <p:cNvSpPr txBox="1"/>
          <p:nvPr/>
        </p:nvSpPr>
        <p:spPr>
          <a:xfrm>
            <a:off x="847137" y="1419523"/>
            <a:ext cx="2973600" cy="429900"/>
          </a:xfrm>
          <a:prstGeom prst="rect">
            <a:avLst/>
          </a:prstGeom>
          <a:solidFill>
            <a:srgbClr val="D6EAF8"/>
          </a:solidFill>
          <a:ln w="9525" cap="flat" cmpd="sng">
            <a:solidFill>
              <a:srgbClr val="0B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rPr>
              <a:t>dbChip</a:t>
            </a:r>
            <a:endParaRPr sz="1150" b="1" i="0" u="none" strike="noStrike" cap="none">
              <a:solidFill>
                <a:srgbClr val="0B25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rPr>
              <a:t>Type: DIE | HIER | RDL | IP | SUBSTRATE</a:t>
            </a:r>
            <a:endParaRPr sz="1150" b="0" i="0" u="none" strike="noStrike" cap="none">
              <a:solidFill>
                <a:srgbClr val="0B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 txBox="1"/>
          <p:nvPr/>
        </p:nvSpPr>
        <p:spPr>
          <a:xfrm>
            <a:off x="1228462" y="2052908"/>
            <a:ext cx="983100" cy="429900"/>
          </a:xfrm>
          <a:prstGeom prst="rect">
            <a:avLst/>
          </a:prstGeom>
          <a:solidFill>
            <a:srgbClr val="ECEFF1"/>
          </a:solidFill>
          <a:ln w="9525" cap="flat" cmpd="sng">
            <a:solidFill>
              <a:srgbClr val="546E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37474F"/>
                </a:solidFill>
                <a:latin typeface="Arial"/>
                <a:ea typeface="Arial"/>
                <a:cs typeface="Arial"/>
                <a:sym typeface="Arial"/>
              </a:rPr>
              <a:t>dbBlock</a:t>
            </a:r>
            <a:endParaRPr sz="1150" b="0" i="0" u="none" strike="noStrike" cap="none">
              <a:solidFill>
                <a:srgbClr val="3747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2333981" y="2052902"/>
            <a:ext cx="1416300" cy="429900"/>
          </a:xfrm>
          <a:prstGeom prst="rect">
            <a:avLst/>
          </a:prstGeom>
          <a:solidFill>
            <a:srgbClr val="FFF3CD"/>
          </a:solidFill>
          <a:ln w="9525" cap="flat" cmpd="sng">
            <a:solidFill>
              <a:srgbClr val="A67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7A5C00"/>
                </a:solidFill>
                <a:latin typeface="Arial"/>
                <a:ea typeface="Arial"/>
                <a:cs typeface="Arial"/>
                <a:sym typeface="Arial"/>
              </a:rPr>
              <a:t>dbTech</a:t>
            </a:r>
            <a:endParaRPr sz="1150" b="1" i="0" u="none" strike="noStrike" cap="none">
              <a:solidFill>
                <a:srgbClr val="7A5C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7A5C00"/>
                </a:solidFill>
                <a:latin typeface="Arial"/>
                <a:ea typeface="Arial"/>
                <a:cs typeface="Arial"/>
                <a:sym typeface="Arial"/>
              </a:rPr>
              <a:t>TechLEF per chip</a:t>
            </a:r>
            <a:endParaRPr sz="1150" b="0" i="0" u="none" strike="noStrike" cap="none">
              <a:solidFill>
                <a:srgbClr val="7A5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911983" y="2686282"/>
            <a:ext cx="2908800" cy="429900"/>
          </a:xfrm>
          <a:prstGeom prst="rect">
            <a:avLst/>
          </a:prstGeom>
          <a:solidFill>
            <a:srgbClr val="D6EAF8"/>
          </a:solidFill>
          <a:ln w="9525" cap="flat" cmpd="sng">
            <a:solidFill>
              <a:srgbClr val="0B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rPr>
              <a:t>dbChipRegion</a:t>
            </a:r>
            <a:endParaRPr sz="1150" b="1" i="0" u="none" strike="noStrike" cap="none">
              <a:solidFill>
                <a:srgbClr val="0B25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rPr>
              <a:t>front | back | internal | internal_ext</a:t>
            </a:r>
            <a:endParaRPr sz="1150" b="0" i="1" u="none" strike="noStrike" cap="none">
              <a:solidFill>
                <a:srgbClr val="0B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1137358" y="3319661"/>
            <a:ext cx="2683200" cy="429900"/>
          </a:xfrm>
          <a:prstGeom prst="rect">
            <a:avLst/>
          </a:prstGeom>
          <a:solidFill>
            <a:srgbClr val="D6EAF8"/>
          </a:solidFill>
          <a:ln w="9525" cap="flat" cmpd="sng">
            <a:solidFill>
              <a:srgbClr val="0B25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rPr>
              <a:t>dbChipBump</a:t>
            </a:r>
            <a:endParaRPr sz="1150" b="1" i="0" u="none" strike="noStrike" cap="none">
              <a:solidFill>
                <a:srgbClr val="0B25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rPr>
              <a:t>bumpmap</a:t>
            </a:r>
            <a:endParaRPr sz="1150" b="0" i="1" u="none" strike="noStrike" cap="none">
              <a:solidFill>
                <a:srgbClr val="0B25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7"/>
          <p:cNvCxnSpPr/>
          <p:nvPr/>
        </p:nvCxnSpPr>
        <p:spPr>
          <a:xfrm>
            <a:off x="1692855" y="1849434"/>
            <a:ext cx="0" cy="203400"/>
          </a:xfrm>
          <a:prstGeom prst="straightConnector1">
            <a:avLst/>
          </a:prstGeom>
          <a:noFill/>
          <a:ln w="9525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7"/>
          <p:cNvCxnSpPr/>
          <p:nvPr/>
        </p:nvCxnSpPr>
        <p:spPr>
          <a:xfrm>
            <a:off x="2978614" y="1856161"/>
            <a:ext cx="0" cy="203400"/>
          </a:xfrm>
          <a:prstGeom prst="straightConnector1">
            <a:avLst/>
          </a:prstGeom>
          <a:noFill/>
          <a:ln w="9525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7"/>
          <p:cNvCxnSpPr/>
          <p:nvPr/>
        </p:nvCxnSpPr>
        <p:spPr>
          <a:xfrm>
            <a:off x="1124884" y="1856198"/>
            <a:ext cx="0" cy="830100"/>
          </a:xfrm>
          <a:prstGeom prst="straightConnector1">
            <a:avLst/>
          </a:prstGeom>
          <a:noFill/>
          <a:ln w="9525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7"/>
          <p:cNvCxnSpPr/>
          <p:nvPr/>
        </p:nvCxnSpPr>
        <p:spPr>
          <a:xfrm>
            <a:off x="1643660" y="3116192"/>
            <a:ext cx="0" cy="203400"/>
          </a:xfrm>
          <a:prstGeom prst="straightConnector1">
            <a:avLst/>
          </a:prstGeom>
          <a:noFill/>
          <a:ln w="9525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7"/>
          <p:cNvSpPr txBox="1"/>
          <p:nvPr/>
        </p:nvSpPr>
        <p:spPr>
          <a:xfrm>
            <a:off x="4568014" y="1412250"/>
            <a:ext cx="2715900" cy="429900"/>
          </a:xfrm>
          <a:prstGeom prst="rect">
            <a:avLst/>
          </a:prstGeom>
          <a:solidFill>
            <a:srgbClr val="E8F5E9"/>
          </a:solidFill>
          <a:ln w="9525" cap="flat" cmpd="sng">
            <a:solidFill>
              <a:srgbClr val="1E6F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dbChipInst</a:t>
            </a:r>
            <a:endParaRPr sz="1150" b="1" i="0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placed at (x, y, z) with dbOrientType3D</a:t>
            </a:r>
            <a:endParaRPr sz="1150" b="0" i="0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4568014" y="2679008"/>
            <a:ext cx="2715900" cy="429900"/>
          </a:xfrm>
          <a:prstGeom prst="rect">
            <a:avLst/>
          </a:prstGeom>
          <a:solidFill>
            <a:srgbClr val="E8F5E9"/>
          </a:solidFill>
          <a:ln w="9525" cap="flat" cmpd="sng">
            <a:solidFill>
              <a:srgbClr val="1E6F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dbChipRegionInst</a:t>
            </a:r>
            <a:endParaRPr sz="1150" b="1" i="0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one per parent dbChipInst</a:t>
            </a:r>
            <a:endParaRPr sz="1150" b="0" i="1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4813986" y="3312388"/>
            <a:ext cx="2469900" cy="429900"/>
          </a:xfrm>
          <a:prstGeom prst="rect">
            <a:avLst/>
          </a:prstGeom>
          <a:solidFill>
            <a:srgbClr val="E8F5E9"/>
          </a:solidFill>
          <a:ln w="9525" cap="flat" cmpd="sng">
            <a:solidFill>
              <a:srgbClr val="1E6F4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dbChipBumpInst</a:t>
            </a:r>
            <a:endParaRPr sz="1150" b="1" i="0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Located on dbChipRegionInst</a:t>
            </a:r>
            <a:endParaRPr sz="1150" b="0" i="1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7"/>
          <p:cNvCxnSpPr/>
          <p:nvPr/>
        </p:nvCxnSpPr>
        <p:spPr>
          <a:xfrm rot="10800000" flipH="1">
            <a:off x="3820821" y="1665029"/>
            <a:ext cx="747000" cy="7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1" name="Google Shape;281;p7"/>
          <p:cNvSpPr txBox="1"/>
          <p:nvPr/>
        </p:nvSpPr>
        <p:spPr>
          <a:xfrm>
            <a:off x="3820821" y="1448619"/>
            <a:ext cx="7470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4"/>
              <a:buFont typeface="Arial"/>
              <a:buNone/>
            </a:pPr>
            <a:r>
              <a:rPr lang="en-GB" sz="904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instantiates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7"/>
          <p:cNvGrpSpPr/>
          <p:nvPr/>
        </p:nvGrpSpPr>
        <p:grpSpPr>
          <a:xfrm>
            <a:off x="3820999" y="3318491"/>
            <a:ext cx="993137" cy="258254"/>
            <a:chOff x="4268374" y="1980356"/>
            <a:chExt cx="909300" cy="307372"/>
          </a:xfrm>
        </p:grpSpPr>
        <p:cxnSp>
          <p:nvCxnSpPr>
            <p:cNvPr id="283" name="Google Shape;283;p7"/>
            <p:cNvCxnSpPr/>
            <p:nvPr/>
          </p:nvCxnSpPr>
          <p:spPr>
            <a:xfrm rot="10800000" flipH="1">
              <a:off x="4268374" y="2278728"/>
              <a:ext cx="909300" cy="9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84" name="Google Shape;284;p7"/>
            <p:cNvSpPr txBox="1"/>
            <p:nvPr/>
          </p:nvSpPr>
          <p:spPr>
            <a:xfrm>
              <a:off x="4268374" y="1980356"/>
              <a:ext cx="9093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125" tIns="37550" rIns="75125" bIns="375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4"/>
                <a:buFont typeface="Arial"/>
                <a:buNone/>
              </a:pPr>
              <a:r>
                <a:rPr lang="en-GB" sz="904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instantiates</a:t>
              </a:r>
              <a:endParaRPr sz="11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5" name="Google Shape;285;p7"/>
          <p:cNvCxnSpPr/>
          <p:nvPr/>
        </p:nvCxnSpPr>
        <p:spPr>
          <a:xfrm>
            <a:off x="4817983" y="1856198"/>
            <a:ext cx="0" cy="830100"/>
          </a:xfrm>
          <a:prstGeom prst="straightConnector1">
            <a:avLst/>
          </a:prstGeom>
          <a:noFill/>
          <a:ln w="9525" cap="flat" cmpd="sng">
            <a:solidFill>
              <a:srgbClr val="1E6F4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" name="Google Shape;286;p7"/>
          <p:cNvCxnSpPr/>
          <p:nvPr/>
        </p:nvCxnSpPr>
        <p:spPr>
          <a:xfrm>
            <a:off x="5216955" y="3108919"/>
            <a:ext cx="0" cy="203400"/>
          </a:xfrm>
          <a:prstGeom prst="straightConnector1">
            <a:avLst/>
          </a:prstGeom>
          <a:noFill/>
          <a:ln w="9525" cap="flat" cmpd="sng">
            <a:solidFill>
              <a:srgbClr val="1E6F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7"/>
          <p:cNvSpPr txBox="1"/>
          <p:nvPr/>
        </p:nvSpPr>
        <p:spPr>
          <a:xfrm>
            <a:off x="2959616" y="4017909"/>
            <a:ext cx="2363100" cy="429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6F4E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dbChipNet</a:t>
            </a:r>
            <a:endParaRPr sz="1150" b="1" i="0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logical net spanning bump insts</a:t>
            </a:r>
            <a:endParaRPr sz="1150" b="0" i="1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7"/>
          <p:cNvGrpSpPr/>
          <p:nvPr/>
        </p:nvGrpSpPr>
        <p:grpSpPr>
          <a:xfrm>
            <a:off x="3820969" y="2647372"/>
            <a:ext cx="747172" cy="252568"/>
            <a:chOff x="4268374" y="1980356"/>
            <a:chExt cx="909300" cy="307372"/>
          </a:xfrm>
        </p:grpSpPr>
        <p:cxnSp>
          <p:nvCxnSpPr>
            <p:cNvPr id="289" name="Google Shape;289;p7"/>
            <p:cNvCxnSpPr/>
            <p:nvPr/>
          </p:nvCxnSpPr>
          <p:spPr>
            <a:xfrm rot="10800000" flipH="1">
              <a:off x="4268374" y="2278728"/>
              <a:ext cx="909300" cy="90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90" name="Google Shape;290;p7"/>
            <p:cNvSpPr txBox="1"/>
            <p:nvPr/>
          </p:nvSpPr>
          <p:spPr>
            <a:xfrm>
              <a:off x="4268374" y="1980356"/>
              <a:ext cx="909300" cy="26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125" tIns="37550" rIns="75125" bIns="375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4"/>
                <a:buFont typeface="Arial"/>
                <a:buNone/>
              </a:pPr>
              <a:r>
                <a:rPr lang="en-GB" sz="904" b="0" i="1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instantiates</a:t>
              </a:r>
              <a:endParaRPr sz="11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1" name="Google Shape;291;p7"/>
          <p:cNvCxnSpPr>
            <a:stCxn id="287" idx="0"/>
          </p:cNvCxnSpPr>
          <p:nvPr/>
        </p:nvCxnSpPr>
        <p:spPr>
          <a:xfrm rot="10800000" flipH="1">
            <a:off x="4141166" y="3749409"/>
            <a:ext cx="672900" cy="268500"/>
          </a:xfrm>
          <a:prstGeom prst="straightConnector1">
            <a:avLst/>
          </a:prstGeom>
          <a:noFill/>
          <a:ln w="9525" cap="flat" cmpd="sng">
            <a:solidFill>
              <a:srgbClr val="1E6F4E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92" name="Google Shape;292;p7"/>
          <p:cNvSpPr txBox="1"/>
          <p:nvPr/>
        </p:nvSpPr>
        <p:spPr>
          <a:xfrm rot="-1372458">
            <a:off x="4076046" y="3680963"/>
            <a:ext cx="779500" cy="214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4"/>
              <a:buFont typeface="Arial"/>
              <a:buNone/>
            </a:pPr>
            <a:r>
              <a:rPr lang="en-GB" sz="904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connects 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5505657" y="4010636"/>
            <a:ext cx="2363100" cy="429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E6F4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1" i="0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dbChipConn</a:t>
            </a:r>
            <a:endParaRPr sz="1150" b="1" i="0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GB" sz="1150" b="0" i="1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rPr>
              <a:t>region &lt;-&gt; region with thickness</a:t>
            </a:r>
            <a:endParaRPr sz="1150" b="0" i="0" u="none" strike="noStrike" cap="none">
              <a:solidFill>
                <a:srgbClr val="1E6F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 rot="-1567">
            <a:off x="7638650" y="3312507"/>
            <a:ext cx="6582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25" tIns="37550" rIns="75125" bIns="37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4"/>
              <a:buFont typeface="Arial"/>
              <a:buNone/>
            </a:pPr>
            <a:r>
              <a:rPr lang="en-GB" sz="904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connects </a:t>
            </a:r>
            <a:endParaRPr sz="11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7"/>
          <p:cNvCxnSpPr>
            <a:endCxn id="278" idx="3"/>
          </p:cNvCxnSpPr>
          <p:nvPr/>
        </p:nvCxnSpPr>
        <p:spPr>
          <a:xfrm rot="5400000" flipH="1">
            <a:off x="6911614" y="3266258"/>
            <a:ext cx="1126200" cy="381600"/>
          </a:xfrm>
          <a:prstGeom prst="bentConnector2">
            <a:avLst/>
          </a:prstGeom>
          <a:noFill/>
          <a:ln w="9525" cap="flat" cmpd="sng">
            <a:solidFill>
              <a:srgbClr val="1E6F4E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296" name="Google Shape;296;p7"/>
          <p:cNvSpPr txBox="1"/>
          <p:nvPr/>
        </p:nvSpPr>
        <p:spPr>
          <a:xfrm>
            <a:off x="1174521" y="890173"/>
            <a:ext cx="6039600" cy="5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GB" sz="1350" b="0" i="0" u="none" strike="noStrike" cap="none" dirty="0">
                <a:solidFill>
                  <a:srgbClr val="1F2937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pattern as </a:t>
            </a:r>
            <a:r>
              <a:rPr lang="en-GB" sz="1350" b="0" i="0" u="none" strike="noStrike" cap="none" dirty="0" err="1">
                <a:solidFill>
                  <a:srgbClr val="2A6FB5"/>
                </a:solidFill>
                <a:latin typeface="Courier New"/>
                <a:ea typeface="Courier New"/>
                <a:cs typeface="Courier New"/>
                <a:sym typeface="Courier New"/>
              </a:rPr>
              <a:t>dbMaster</a:t>
            </a:r>
            <a:r>
              <a:rPr lang="en-GB" sz="1350" b="0" i="0" u="none" strike="noStrike" cap="none" dirty="0">
                <a:solidFill>
                  <a:srgbClr val="1F2937"/>
                </a:solidFill>
                <a:latin typeface="IBM Plex Sans"/>
                <a:ea typeface="IBM Plex Sans"/>
                <a:cs typeface="IBM Plex Sans"/>
                <a:sym typeface="IBM Plex Sans"/>
              </a:rPr>
              <a:t> / </a:t>
            </a:r>
            <a:r>
              <a:rPr lang="en-GB" sz="1350" b="0" i="0" u="none" strike="noStrike" cap="none" dirty="0" err="1">
                <a:solidFill>
                  <a:srgbClr val="2A6FB5"/>
                </a:solidFill>
                <a:latin typeface="Courier New"/>
                <a:ea typeface="Courier New"/>
                <a:cs typeface="Courier New"/>
                <a:sym typeface="Courier New"/>
              </a:rPr>
              <a:t>dbInst</a:t>
            </a:r>
            <a:r>
              <a:rPr lang="en-GB" sz="1350" b="0" i="0" u="none" strike="noStrike" cap="none" dirty="0">
                <a:solidFill>
                  <a:srgbClr val="1F2937"/>
                </a:solidFill>
                <a:latin typeface="IBM Plex Sans"/>
                <a:ea typeface="IBM Plex Sans"/>
                <a:cs typeface="IBM Plex Sans"/>
                <a:sym typeface="IBM Plex Sans"/>
              </a:rPr>
              <a:t>, lifted one level up to the chip itself.</a:t>
            </a:r>
            <a:endParaRPr sz="1350" b="0" i="0" u="none" strike="noStrike" cap="none" dirty="0">
              <a:solidFill>
                <a:srgbClr val="1F293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endParaRPr sz="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 txBox="1">
            <a:spLocks noGrp="1"/>
          </p:cNvSpPr>
          <p:nvPr>
            <p:ph type="title"/>
          </p:nvPr>
        </p:nvSpPr>
        <p:spPr>
          <a:xfrm>
            <a:off x="355600" y="175000"/>
            <a:ext cx="843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0707"/>
              <a:buNone/>
            </a:pPr>
            <a:r>
              <a:rPr lang="en-GB" sz="3200" b="1" dirty="0">
                <a:solidFill>
                  <a:srgbClr val="000000"/>
                </a:solidFill>
                <a:latin typeface="Arial"/>
              </a:rPr>
              <a:t>3D Database Overview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/>
          <p:nvPr/>
        </p:nvSpPr>
        <p:spPr>
          <a:xfrm>
            <a:off x="355600" y="175000"/>
            <a:ext cx="8432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Font typeface="Arial"/>
              <a:buNone/>
            </a:pPr>
            <a:r>
              <a:rPr lang="en-GB" sz="3200" b="1" i="0" u="none" strike="noStrike" cap="none">
                <a:solidFill>
                  <a:srgbClr val="000000"/>
                </a:solidFill>
                <a:latin typeface="Arial"/>
                <a:ea typeface="Inter"/>
                <a:cs typeface="Inter"/>
                <a:sym typeface="Inter"/>
              </a:rPr>
              <a:t>3DBlox Files (3dbx and 3dbv)</a:t>
            </a:r>
            <a:endParaRPr sz="2720" b="1" i="0" u="none" strike="noStrike" cap="none">
              <a:solidFill>
                <a:srgbClr val="0B2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3" name="Google Shape;303;p8"/>
          <p:cNvGrpSpPr/>
          <p:nvPr/>
        </p:nvGrpSpPr>
        <p:grpSpPr>
          <a:xfrm>
            <a:off x="4948800" y="1401224"/>
            <a:ext cx="3719801" cy="3271958"/>
            <a:chOff x="369550" y="861200"/>
            <a:chExt cx="3719801" cy="3271958"/>
          </a:xfrm>
        </p:grpSpPr>
        <p:sp>
          <p:nvSpPr>
            <p:cNvPr id="304" name="Google Shape;304;p8"/>
            <p:cNvSpPr/>
            <p:nvPr/>
          </p:nvSpPr>
          <p:spPr>
            <a:xfrm>
              <a:off x="381000" y="1370625"/>
              <a:ext cx="2490300" cy="2762533"/>
            </a:xfrm>
            <a:prstGeom prst="rect">
              <a:avLst/>
            </a:prstGeom>
            <a:solidFill>
              <a:srgbClr val="F5F5F5"/>
            </a:solidFill>
            <a:ln w="9525" cap="flat" cmpd="sng">
              <a:solidFill>
                <a:srgbClr val="CBD5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9000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ChipletDef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compute_tile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  type: die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  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design_area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 [1000, 1000]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  thickness: 50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  regions: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    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to_interposer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 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side: back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coords: [[...]...]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     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bmap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compute_tile.bmap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  external: 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APR_tech_file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 [tech_5nm.lef]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  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cache_die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.........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536450" y="1661675"/>
              <a:ext cx="1818900" cy="7011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702100" y="2534775"/>
              <a:ext cx="1792200" cy="5028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702100" y="3037575"/>
              <a:ext cx="1792200" cy="1725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748675" y="3361600"/>
              <a:ext cx="1818900" cy="2448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3178150" y="1888400"/>
              <a:ext cx="901500" cy="244800"/>
            </a:xfrm>
            <a:prstGeom prst="rect">
              <a:avLst/>
            </a:prstGeom>
            <a:solidFill>
              <a:srgbClr val="D6EAF8"/>
            </a:solidFill>
            <a:ln w="9525" cap="flat" cmpd="sng">
              <a:solidFill>
                <a:srgbClr val="0B25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rgbClr val="0B2540"/>
                  </a:solidFill>
                  <a:latin typeface="Arial"/>
                  <a:ea typeface="Arial"/>
                  <a:cs typeface="Arial"/>
                  <a:sym typeface="Arial"/>
                </a:rPr>
                <a:t>dbChip</a:t>
              </a:r>
              <a:endParaRPr sz="800" b="0" i="0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3178075" y="2675687"/>
              <a:ext cx="911100" cy="217800"/>
            </a:xfrm>
            <a:prstGeom prst="rect">
              <a:avLst/>
            </a:prstGeom>
            <a:solidFill>
              <a:srgbClr val="D6EAF8"/>
            </a:solidFill>
            <a:ln w="9525" cap="flat" cmpd="sng">
              <a:solidFill>
                <a:srgbClr val="0B25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rgbClr val="0B2540"/>
                  </a:solidFill>
                  <a:latin typeface="Arial"/>
                  <a:ea typeface="Arial"/>
                  <a:cs typeface="Arial"/>
                  <a:sym typeface="Arial"/>
                </a:rPr>
                <a:t>dbChipRegion</a:t>
              </a:r>
              <a:endParaRPr sz="800" b="0" i="0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3178251" y="3361600"/>
              <a:ext cx="911100" cy="244800"/>
            </a:xfrm>
            <a:prstGeom prst="rect">
              <a:avLst/>
            </a:prstGeom>
            <a:solidFill>
              <a:srgbClr val="FFF3CD"/>
            </a:solidFill>
            <a:ln w="9525" cap="flat" cmpd="sng">
              <a:solidFill>
                <a:srgbClr val="A67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rgbClr val="7A5C00"/>
                  </a:solidFill>
                  <a:latin typeface="Arial"/>
                  <a:ea typeface="Arial"/>
                  <a:cs typeface="Arial"/>
                  <a:sym typeface="Arial"/>
                </a:rPr>
                <a:t>dbTech</a:t>
              </a:r>
              <a:endParaRPr sz="800" b="0" i="0" u="none" strike="noStrike" cap="none">
                <a:solidFill>
                  <a:srgbClr val="7A5C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178075" y="3054675"/>
              <a:ext cx="911100" cy="244800"/>
            </a:xfrm>
            <a:prstGeom prst="rect">
              <a:avLst/>
            </a:prstGeom>
            <a:solidFill>
              <a:srgbClr val="D6EAF8"/>
            </a:solidFill>
            <a:ln w="9525" cap="flat" cmpd="sng">
              <a:solidFill>
                <a:srgbClr val="0B25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rgbClr val="0B2540"/>
                  </a:solidFill>
                  <a:latin typeface="Arial"/>
                  <a:ea typeface="Arial"/>
                  <a:cs typeface="Arial"/>
                  <a:sym typeface="Arial"/>
                </a:rPr>
                <a:t>dbChipBump</a:t>
              </a:r>
              <a:endParaRPr sz="800" b="0" i="0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" name="Google Shape;313;p8"/>
            <p:cNvCxnSpPr>
              <a:stCxn id="305" idx="3"/>
              <a:endCxn id="309" idx="1"/>
            </p:cNvCxnSpPr>
            <p:nvPr/>
          </p:nvCxnSpPr>
          <p:spPr>
            <a:xfrm rot="10800000" flipH="1">
              <a:off x="2355350" y="2010725"/>
              <a:ext cx="822900" cy="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4" name="Google Shape;314;p8"/>
            <p:cNvCxnSpPr>
              <a:stCxn id="306" idx="3"/>
              <a:endCxn id="310" idx="1"/>
            </p:cNvCxnSpPr>
            <p:nvPr/>
          </p:nvCxnSpPr>
          <p:spPr>
            <a:xfrm rot="10800000" flipH="1">
              <a:off x="2494300" y="2784675"/>
              <a:ext cx="683700" cy="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8"/>
            <p:cNvCxnSpPr>
              <a:endCxn id="312" idx="1"/>
            </p:cNvCxnSpPr>
            <p:nvPr/>
          </p:nvCxnSpPr>
          <p:spPr>
            <a:xfrm rot="10800000" flipH="1">
              <a:off x="2491675" y="3177075"/>
              <a:ext cx="686400" cy="4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8"/>
            <p:cNvCxnSpPr>
              <a:stCxn id="308" idx="3"/>
              <a:endCxn id="311" idx="1"/>
            </p:cNvCxnSpPr>
            <p:nvPr/>
          </p:nvCxnSpPr>
          <p:spPr>
            <a:xfrm>
              <a:off x="2567575" y="3484000"/>
              <a:ext cx="610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7" name="Google Shape;317;p8"/>
            <p:cNvSpPr/>
            <p:nvPr/>
          </p:nvSpPr>
          <p:spPr>
            <a:xfrm>
              <a:off x="369550" y="861200"/>
              <a:ext cx="2501700" cy="36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rPr lang="en-GB" sz="859" b="1" i="0" u="none" strike="noStrike" cap="none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read_3dbv</a:t>
              </a:r>
              <a:r>
                <a:rPr lang="en-GB" sz="859" b="0" i="0" u="none" strike="noStrike" cap="none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chiplet_definitions.3dbv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8" name="Google Shape;318;p8"/>
          <p:cNvGrpSpPr/>
          <p:nvPr/>
        </p:nvGrpSpPr>
        <p:grpSpPr>
          <a:xfrm>
            <a:off x="366800" y="805182"/>
            <a:ext cx="4367100" cy="3871000"/>
            <a:chOff x="4395950" y="861200"/>
            <a:chExt cx="4367100" cy="3871000"/>
          </a:xfrm>
        </p:grpSpPr>
        <p:sp>
          <p:nvSpPr>
            <p:cNvPr id="319" name="Google Shape;319;p8"/>
            <p:cNvSpPr/>
            <p:nvPr/>
          </p:nvSpPr>
          <p:spPr>
            <a:xfrm>
              <a:off x="4395950" y="1398300"/>
              <a:ext cx="3291300" cy="3333900"/>
            </a:xfrm>
            <a:prstGeom prst="rect">
              <a:avLst/>
            </a:prstGeom>
            <a:solidFill>
              <a:srgbClr val="F5F5F5"/>
            </a:solidFill>
            <a:ln w="9525" cap="flat" cmpd="sng">
              <a:solidFill>
                <a:srgbClr val="CBD5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Design: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name: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top_design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external: 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verilog_file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 “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top.v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”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ChipletInst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cpu_inst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reference: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cpu_complex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...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Stack: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interposer_inst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loc: [0,0]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z: 0.0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orient: R0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...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Connection: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Conn1:</a:t>
              </a:r>
              <a:b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</a:b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top: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interposer_inst.regions.to_cpu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bot: 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cpu_inst</a:t>
              </a: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/</a:t>
              </a:r>
              <a:r>
                <a:rPr lang="en-GB" sz="759" b="0" i="0" u="none" strike="noStrike" cap="none" dirty="0" err="1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compute_inst.regions.to_interposer</a:t>
              </a:r>
              <a:endParaRPr sz="759" b="0" i="0" u="none" strike="noStrike" cap="none" dirty="0">
                <a:solidFill>
                  <a:srgbClr val="1F2937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9000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9"/>
                <a:buFont typeface="Arial"/>
                <a:buNone/>
              </a:pPr>
              <a:r>
                <a:rPr lang="en-GB" sz="759" b="0" i="0" u="none" strike="noStrike" cap="none" dirty="0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thickness: 10.0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7914150" y="2373226"/>
              <a:ext cx="822900" cy="217800"/>
            </a:xfrm>
            <a:prstGeom prst="rect">
              <a:avLst/>
            </a:prstGeom>
            <a:solidFill>
              <a:srgbClr val="E8F5E9"/>
            </a:solidFill>
            <a:ln w="9525" cap="flat" cmpd="sng">
              <a:solidFill>
                <a:srgbClr val="1E6F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rgbClr val="1E6F4E"/>
                  </a:solidFill>
                  <a:latin typeface="Arial"/>
                  <a:ea typeface="Arial"/>
                  <a:cs typeface="Arial"/>
                  <a:sym typeface="Arial"/>
                </a:rPr>
                <a:t>dbChipInst</a:t>
              </a:r>
              <a:endParaRPr sz="800" b="0" i="1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4572000" y="2294975"/>
              <a:ext cx="1891200" cy="3627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4542950" y="3984900"/>
              <a:ext cx="3015600" cy="7011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7914050" y="4213050"/>
              <a:ext cx="822900" cy="244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1E6F4E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rgbClr val="1E6F4E"/>
                  </a:solidFill>
                  <a:latin typeface="Arial"/>
                  <a:ea typeface="Arial"/>
                  <a:cs typeface="Arial"/>
                  <a:sym typeface="Arial"/>
                </a:rPr>
                <a:t>dbChipConn</a:t>
              </a:r>
              <a:endParaRPr sz="800" b="0" i="1" u="none" strike="noStrike" cap="none">
                <a:solidFill>
                  <a:srgbClr val="1E6F4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4658250" y="1896125"/>
              <a:ext cx="1632900" cy="1983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5" name="Google Shape;325;p8"/>
            <p:cNvCxnSpPr>
              <a:stCxn id="321" idx="3"/>
              <a:endCxn id="320" idx="1"/>
            </p:cNvCxnSpPr>
            <p:nvPr/>
          </p:nvCxnSpPr>
          <p:spPr>
            <a:xfrm>
              <a:off x="6463200" y="2476325"/>
              <a:ext cx="1451100" cy="5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6" name="Google Shape;326;p8"/>
            <p:cNvCxnSpPr>
              <a:stCxn id="322" idx="3"/>
              <a:endCxn id="323" idx="1"/>
            </p:cNvCxnSpPr>
            <p:nvPr/>
          </p:nvCxnSpPr>
          <p:spPr>
            <a:xfrm>
              <a:off x="7558550" y="4335450"/>
              <a:ext cx="3555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7" name="Google Shape;327;p8"/>
            <p:cNvSpPr/>
            <p:nvPr/>
          </p:nvSpPr>
          <p:spPr>
            <a:xfrm>
              <a:off x="4395950" y="861200"/>
              <a:ext cx="2206639" cy="36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9"/>
                <a:buFont typeface="Arial"/>
                <a:buNone/>
              </a:pPr>
              <a:r>
                <a:rPr lang="en-GB" sz="859" b="1" i="0" u="none" strike="noStrike" cap="none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read_3dbx</a:t>
              </a:r>
              <a:r>
                <a:rPr lang="en-GB" sz="859" b="0" i="0" u="none" strike="noStrike" cap="none">
                  <a:solidFill>
                    <a:srgbClr val="1F2937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top_design.3dbx</a:t>
              </a:r>
              <a:endPara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7914050" y="1486500"/>
              <a:ext cx="849000" cy="217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800" b="1" i="0" u="none" strike="noStrike" cap="none">
                  <a:solidFill>
                    <a:srgbClr val="0B2540"/>
                  </a:solidFill>
                  <a:latin typeface="Arial"/>
                  <a:ea typeface="Arial"/>
                  <a:cs typeface="Arial"/>
                  <a:sym typeface="Arial"/>
                </a:rPr>
                <a:t>dbChip(HIER)</a:t>
              </a:r>
              <a:endParaRPr sz="800" b="0" i="0" u="none" strike="noStrike" cap="none">
                <a:solidFill>
                  <a:srgbClr val="0B25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4450825" y="1438925"/>
              <a:ext cx="1727100" cy="314400"/>
            </a:xfrm>
            <a:prstGeom prst="rect">
              <a:avLst/>
            </a:prstGeom>
            <a:noFill/>
            <a:ln w="9525" cap="flat" cmpd="sng">
              <a:solidFill>
                <a:srgbClr val="6B728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8"/>
            <p:cNvCxnSpPr>
              <a:stCxn id="329" idx="3"/>
              <a:endCxn id="328" idx="1"/>
            </p:cNvCxnSpPr>
            <p:nvPr/>
          </p:nvCxnSpPr>
          <p:spPr>
            <a:xfrm rot="10800000" flipH="1">
              <a:off x="6177925" y="1595525"/>
              <a:ext cx="1736100" cy="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7375" y="139025"/>
            <a:ext cx="2768421" cy="119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>
            <a:spLocks noGrp="1"/>
          </p:cNvSpPr>
          <p:nvPr>
            <p:ph type="title" idx="4294967295"/>
          </p:nvPr>
        </p:nvSpPr>
        <p:spPr>
          <a:xfrm>
            <a:off x="355600" y="175000"/>
            <a:ext cx="8432800" cy="685800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GB" sz="3200" b="1" dirty="0">
                <a:solidFill>
                  <a:srgbClr val="000000"/>
                </a:solidFill>
                <a:latin typeface="Arial"/>
              </a:rPr>
              <a:t>Additional Documentation</a:t>
            </a:r>
          </a:p>
        </p:txBody>
      </p:sp>
      <p:sp>
        <p:nvSpPr>
          <p:cNvPr id="337" name="Google Shape;337;p9"/>
          <p:cNvSpPr txBox="1"/>
          <p:nvPr/>
        </p:nvSpPr>
        <p:spPr>
          <a:xfrm>
            <a:off x="355600" y="1186755"/>
            <a:ext cx="823680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 i="0" u="none" strike="noStrike" cap="none" dirty="0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https://github.com/The-OpenROAD-Project/OpenROAD/blob/master/src/odb/doc/3dic.md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C 2025 Birds of a Feather - Spyrou v2">
  <a:themeElements>
    <a:clrScheme name="DAC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DDEE"/>
      </a:accent1>
      <a:accent2>
        <a:srgbClr val="ED7D31"/>
      </a:accent2>
      <a:accent3>
        <a:srgbClr val="C2D833"/>
      </a:accent3>
      <a:accent4>
        <a:srgbClr val="BFDCE0"/>
      </a:accent4>
      <a:accent5>
        <a:srgbClr val="8CCDA3"/>
      </a:accent5>
      <a:accent6>
        <a:srgbClr val="00769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cology 16x9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AC 2025 Birds of a Feather - Spyrou v2">
  <a:themeElements>
    <a:clrScheme name="DAC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DDEE"/>
      </a:accent1>
      <a:accent2>
        <a:srgbClr val="ED7D31"/>
      </a:accent2>
      <a:accent3>
        <a:srgbClr val="C2D833"/>
      </a:accent3>
      <a:accent4>
        <a:srgbClr val="BFDCE0"/>
      </a:accent4>
      <a:accent5>
        <a:srgbClr val="8CCDA3"/>
      </a:accent5>
      <a:accent6>
        <a:srgbClr val="00769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Ecology 16x9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622</Words>
  <Application>Microsoft Office PowerPoint</Application>
  <PresentationFormat>On-screen Show (16:9)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Tahoma</vt:lpstr>
      <vt:lpstr>Inter</vt:lpstr>
      <vt:lpstr>Libre Franklin Medium</vt:lpstr>
      <vt:lpstr>Arial</vt:lpstr>
      <vt:lpstr>Trebuchet MS</vt:lpstr>
      <vt:lpstr>Libre Franklin</vt:lpstr>
      <vt:lpstr>Calibri</vt:lpstr>
      <vt:lpstr>Corbel</vt:lpstr>
      <vt:lpstr>IBM Plex Sans</vt:lpstr>
      <vt:lpstr>Courier New</vt:lpstr>
      <vt:lpstr>IBM Plex Mono</vt:lpstr>
      <vt:lpstr>DAC 2025 Birds of a Feather - Spyrou v2</vt:lpstr>
      <vt:lpstr>Ecology 16x9</vt:lpstr>
      <vt:lpstr>1_DAC 2025 Birds of a Feather - Spyrou v2</vt:lpstr>
      <vt:lpstr>1_Ecology 16x9</vt:lpstr>
      <vt:lpstr>   Updates on 3D OpenROAD Database</vt:lpstr>
      <vt:lpstr>P&amp;R for 3D IC Designs</vt:lpstr>
      <vt:lpstr>3D Viewer and Linter</vt:lpstr>
      <vt:lpstr>3D STA and RC Extractor</vt:lpstr>
      <vt:lpstr>Yield Analysis</vt:lpstr>
      <vt:lpstr>3D Database Overview</vt:lpstr>
      <vt:lpstr>PowerPoint Presentation</vt:lpstr>
      <vt:lpstr>Additional 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OWNER</dc:creator>
  <cp:lastModifiedBy>Cho Moon</cp:lastModifiedBy>
  <cp:revision>4</cp:revision>
  <dcterms:modified xsi:type="dcterms:W3CDTF">2026-07-26T16:48:25Z</dcterms:modified>
</cp:coreProperties>
</file>