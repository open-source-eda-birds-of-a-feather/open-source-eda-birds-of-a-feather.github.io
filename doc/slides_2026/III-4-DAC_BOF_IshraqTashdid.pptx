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13"/>
  </p:notesMasterIdLst>
  <p:sldIdLst>
    <p:sldId id="256" r:id="rId2"/>
    <p:sldId id="375" r:id="rId3"/>
    <p:sldId id="691" r:id="rId4"/>
    <p:sldId id="692" r:id="rId5"/>
    <p:sldId id="693" r:id="rId6"/>
    <p:sldId id="694" r:id="rId7"/>
    <p:sldId id="695" r:id="rId8"/>
    <p:sldId id="383" r:id="rId9"/>
    <p:sldId id="687" r:id="rId10"/>
    <p:sldId id="696" r:id="rId11"/>
    <p:sldId id="688" r:id="rId12"/>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ABA85F9-D288-4343-3165-48F9977CA38B}" name="Sazadur Rahman" initials="SR" userId="S::mo412323@ucf.edu::30a7f1cd-f27c-46dc-95ab-48ce00bd47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2884"/>
    <a:srgbClr val="31859B"/>
    <a:srgbClr val="D8D8D8"/>
    <a:srgbClr val="0171C5"/>
    <a:srgbClr val="FFCA28"/>
    <a:srgbClr val="31CB29"/>
    <a:srgbClr val="CC0099"/>
    <a:srgbClr val="0EE618"/>
    <a:srgbClr val="53D7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סגנון ביניים 2 - הדגשה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סגנון בהיר 2 - הדגשה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סגנון בהיר 1 - הדגשה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940675A-B579-460E-94D1-54222C63F5DA}" styleName="ללא סגנון, רשת טבלה">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717"/>
    <p:restoredTop sz="96893"/>
  </p:normalViewPr>
  <p:slideViewPr>
    <p:cSldViewPr snapToGrid="0">
      <p:cViewPr varScale="1">
        <p:scale>
          <a:sx n="148" d="100"/>
          <a:sy n="148" d="100"/>
        </p:scale>
        <p:origin x="1048" y="19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E1EBA392-205C-4DF5-9A40-22D050B4D1AF}" type="datetimeFigureOut">
              <a:rPr lang="he-IL" smtClean="0"/>
              <a:t>י"ד.אב.תשפ"ו</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66272F09-3565-4B89-9497-DE27ED19A198}" type="slidenum">
              <a:rPr lang="he-IL" smtClean="0"/>
              <a:t>‹#›</a:t>
            </a:fld>
            <a:endParaRPr lang="he-IL"/>
          </a:p>
        </p:txBody>
      </p:sp>
    </p:spTree>
    <p:extLst>
      <p:ext uri="{BB962C8B-B14F-4D97-AF65-F5344CB8AC3E}">
        <p14:creationId xmlns:p14="http://schemas.microsoft.com/office/powerpoint/2010/main" val="3117586204"/>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a:xfrm>
            <a:off x="685800" y="1143000"/>
            <a:ext cx="5486400" cy="3086100"/>
          </a:xfrm>
        </p:spPr>
      </p:sp>
      <p:sp>
        <p:nvSpPr>
          <p:cNvPr id="3" name="מציין מיקום של הערות 2"/>
          <p:cNvSpPr>
            <a:spLocks noGrp="1"/>
          </p:cNvSpPr>
          <p:nvPr>
            <p:ph type="body" idx="1"/>
          </p:nvPr>
        </p:nvSpPr>
        <p:spPr/>
        <p:txBody>
          <a:bodyPr/>
          <a:lstStyle/>
          <a:p>
            <a:pPr algn="l"/>
            <a:r>
              <a:rPr lang="en-US" dirty="0"/>
              <a:t>Good afternoon. My name is Ishraq Tashdid. I'm a security researcher at Intel and a PhD candidate at the University of Central Florida. Over the next seven minutes, I'd like to offer a slightly different angle on the conversation we're having here today. My view is that open-source EDA has already won the adoption argument to an extent. And the next question in front of this community now is whether it can win the trust argument as well.</a:t>
            </a:r>
            <a:endParaRPr lang="he-IL" dirty="0"/>
          </a:p>
        </p:txBody>
      </p:sp>
      <p:sp>
        <p:nvSpPr>
          <p:cNvPr id="4" name="מציין מיקום של מספר שקופית 3"/>
          <p:cNvSpPr>
            <a:spLocks noGrp="1"/>
          </p:cNvSpPr>
          <p:nvPr>
            <p:ph type="sldNum" sz="quarter" idx="10"/>
          </p:nvPr>
        </p:nvSpPr>
        <p:spPr/>
        <p:txBody>
          <a:bodyPr/>
          <a:lstStyle/>
          <a:p>
            <a:fld id="{66272F09-3565-4B89-9497-DE27ED19A198}" type="slidenum">
              <a:rPr lang="he-IL" smtClean="0"/>
              <a:t>1</a:t>
            </a:fld>
            <a:endParaRPr lang="he-IL"/>
          </a:p>
        </p:txBody>
      </p:sp>
    </p:spTree>
    <p:extLst>
      <p:ext uri="{BB962C8B-B14F-4D97-AF65-F5344CB8AC3E}">
        <p14:creationId xmlns:p14="http://schemas.microsoft.com/office/powerpoint/2010/main" val="428142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Let me start with a number that anchors everything I'll say today. 2.9 trillion dollars is where the semiconductor market is headed by 2029, and essentially every dollar of that passes through an EDA tool at some point. (click) Here's the tension underneath that growth. At 2 nanometers, software licensing alone accounts for over 280 million dollars of a single chip's design cost, and if you look at the chart behind me, you'll see software has consistently been the single largest line item across every node. This is really the underlying reason open-source EDA moved from an academic interest to a practical necessity. When licensing alone accounts for the largest share of a chip's design cost, only a small number of organizations, the largest fabless companies with the volume to absorb that cost, can afford to treat it as simply a line item. Everyone else, university labs, startups, smaller fabless teams, is effectively priced out of the tools they'd need to compete. Open-source EDA, in large part, is a response to that imbalance.</a:t>
            </a:r>
          </a:p>
        </p:txBody>
      </p:sp>
      <p:sp>
        <p:nvSpPr>
          <p:cNvPr id="4" name="Slide Number Placeholder 3"/>
          <p:cNvSpPr>
            <a:spLocks noGrp="1"/>
          </p:cNvSpPr>
          <p:nvPr>
            <p:ph type="sldNum" sz="quarter" idx="5"/>
          </p:nvPr>
        </p:nvSpPr>
        <p:spPr/>
        <p:txBody>
          <a:bodyPr/>
          <a:lstStyle/>
          <a:p>
            <a:fld id="{66272F09-3565-4B89-9497-DE27ED19A198}" type="slidenum">
              <a:rPr lang="he-IL" smtClean="0"/>
              <a:t>2</a:t>
            </a:fld>
            <a:endParaRPr lang="he-IL"/>
          </a:p>
        </p:txBody>
      </p:sp>
    </p:spTree>
    <p:extLst>
      <p:ext uri="{BB962C8B-B14F-4D97-AF65-F5344CB8AC3E}">
        <p14:creationId xmlns:p14="http://schemas.microsoft.com/office/powerpoint/2010/main" val="10354214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C5520-7111-CB6D-6908-EE8ADF4A7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F90EB6-0DE7-4298-7986-1061B923DF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8C25D7-3B9F-A807-1AF4-BBCB3A7151D0}"/>
              </a:ext>
            </a:extLst>
          </p:cNvPr>
          <p:cNvSpPr>
            <a:spLocks noGrp="1"/>
          </p:cNvSpPr>
          <p:nvPr>
            <p:ph type="body" idx="1"/>
          </p:nvPr>
        </p:nvSpPr>
        <p:spPr/>
        <p:txBody>
          <a:bodyPr/>
          <a:lstStyle/>
          <a:p>
            <a:pPr algn="l"/>
            <a:r>
              <a:rPr lang="en-US" dirty="0"/>
              <a:t>And the response to that imbalance has been real, not just aspirational. Thirteen billion dollars has been committed jointly through the CHIPS R&amp;D program and the CHIPS Alliance. DARPA is running two parallel programs, POSH and IDEA, specifically aimed at de-risking open silicon. The </a:t>
            </a:r>
            <a:r>
              <a:rPr lang="en-US" dirty="0" err="1"/>
              <a:t>OpenROAD</a:t>
            </a:r>
            <a:r>
              <a:rPr lang="en-US" dirty="0"/>
              <a:t> Initiative has gone from an academic prototype to a production flow, ORFS, that's </a:t>
            </a:r>
            <a:r>
              <a:rPr lang="en-US" dirty="0" err="1"/>
              <a:t>fabbing</a:t>
            </a:r>
            <a:r>
              <a:rPr lang="en-US" dirty="0"/>
              <a:t> real tape-outs today. And RISC-V and </a:t>
            </a:r>
            <a:r>
              <a:rPr lang="en-US" dirty="0" err="1"/>
              <a:t>OpenTitan</a:t>
            </a:r>
            <a:r>
              <a:rPr lang="en-US" dirty="0"/>
              <a:t> are really the proof point here. Open-source silicon isn't just participating in this market anymore. It's competing in it.</a:t>
            </a:r>
          </a:p>
        </p:txBody>
      </p:sp>
      <p:sp>
        <p:nvSpPr>
          <p:cNvPr id="4" name="Slide Number Placeholder 3">
            <a:extLst>
              <a:ext uri="{FF2B5EF4-FFF2-40B4-BE49-F238E27FC236}">
                <a16:creationId xmlns:a16="http://schemas.microsoft.com/office/drawing/2014/main" id="{C2E6371E-B344-EDB1-6592-FBDDEE3E465C}"/>
              </a:ext>
            </a:extLst>
          </p:cNvPr>
          <p:cNvSpPr>
            <a:spLocks noGrp="1"/>
          </p:cNvSpPr>
          <p:nvPr>
            <p:ph type="sldNum" sz="quarter" idx="5"/>
          </p:nvPr>
        </p:nvSpPr>
        <p:spPr/>
        <p:txBody>
          <a:bodyPr/>
          <a:lstStyle/>
          <a:p>
            <a:fld id="{66272F09-3565-4B89-9497-DE27ED19A198}" type="slidenum">
              <a:rPr lang="he-IL" smtClean="0"/>
              <a:t>3</a:t>
            </a:fld>
            <a:endParaRPr lang="he-IL"/>
          </a:p>
        </p:txBody>
      </p:sp>
    </p:spTree>
    <p:extLst>
      <p:ext uri="{BB962C8B-B14F-4D97-AF65-F5344CB8AC3E}">
        <p14:creationId xmlns:p14="http://schemas.microsoft.com/office/powerpoint/2010/main" val="29277808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B0D99-BCC7-C9A9-F55F-F5828732F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0ECB44-F217-ADA9-16FF-EDBD19F173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2669D1-9643-1E7D-1737-FD8D3E9634FA}"/>
              </a:ext>
            </a:extLst>
          </p:cNvPr>
          <p:cNvSpPr>
            <a:spLocks noGrp="1"/>
          </p:cNvSpPr>
          <p:nvPr>
            <p:ph type="body" idx="1"/>
          </p:nvPr>
        </p:nvSpPr>
        <p:spPr/>
        <p:txBody>
          <a:bodyPr/>
          <a:lstStyle/>
          <a:p>
            <a:pPr algn="l"/>
            <a:r>
              <a:rPr lang="en-US" dirty="0"/>
              <a:t>But adoption at this scale means adoption of risk, and this isn't theoretical for us. The last decade gave us a recurring class of vulnerability. There were side-channel and speculative-execution flaws that let an attacker extract secrets not by breaking a design's logic, but by observing how that logic behaves in time, power, or shared microarchitectural state. A design can pass every functional and architectural check we currently know how to write, and still leak. And the cost of that gap is not abstract to us. When this exact class of vulnerability became public in 2018, our stock dropped roughly 9 percent in a single week, on the order of high tens of billions of dollars in market value. That is what's at stake when we say a chip is secure and we turn out to be wrong. If we're opening our tools to the world, we are opening this exact attack surface to the world as well.</a:t>
            </a:r>
          </a:p>
        </p:txBody>
      </p:sp>
      <p:sp>
        <p:nvSpPr>
          <p:cNvPr id="4" name="Slide Number Placeholder 3">
            <a:extLst>
              <a:ext uri="{FF2B5EF4-FFF2-40B4-BE49-F238E27FC236}">
                <a16:creationId xmlns:a16="http://schemas.microsoft.com/office/drawing/2014/main" id="{328775D1-1795-03CF-F929-6061AA4C40C0}"/>
              </a:ext>
            </a:extLst>
          </p:cNvPr>
          <p:cNvSpPr>
            <a:spLocks noGrp="1"/>
          </p:cNvSpPr>
          <p:nvPr>
            <p:ph type="sldNum" sz="quarter" idx="5"/>
          </p:nvPr>
        </p:nvSpPr>
        <p:spPr/>
        <p:txBody>
          <a:bodyPr/>
          <a:lstStyle/>
          <a:p>
            <a:fld id="{66272F09-3565-4B89-9497-DE27ED19A198}" type="slidenum">
              <a:rPr lang="he-IL" smtClean="0"/>
              <a:t>4</a:t>
            </a:fld>
            <a:endParaRPr lang="he-IL"/>
          </a:p>
        </p:txBody>
      </p:sp>
    </p:spTree>
    <p:extLst>
      <p:ext uri="{BB962C8B-B14F-4D97-AF65-F5344CB8AC3E}">
        <p14:creationId xmlns:p14="http://schemas.microsoft.com/office/powerpoint/2010/main" val="2813389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64CF5-10E2-271A-0033-F0F2107A90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7CBA8-E394-7B3A-C5CE-F0DC20D9B8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F8D1F0-62A4-11E0-D52A-EFAF78AD2F04}"/>
              </a:ext>
            </a:extLst>
          </p:cNvPr>
          <p:cNvSpPr>
            <a:spLocks noGrp="1"/>
          </p:cNvSpPr>
          <p:nvPr>
            <p:ph type="body" idx="1"/>
          </p:nvPr>
        </p:nvSpPr>
        <p:spPr/>
        <p:txBody>
          <a:bodyPr/>
          <a:lstStyle/>
          <a:p>
            <a:pPr algn="l"/>
            <a:r>
              <a:rPr lang="en-US" dirty="0"/>
              <a:t>And you can see that this is a very risky area as well. On average, it takes about 241 days just to detect and contain a bug. In the US specifically, that cost just hit an all-time high. What's most important is that it is not because of some external hacking or stolen credentials anymore. It's supply chain compromise and malicious insiders, both now averaging north of $4.9 million per incident. And for us, that's worth sitting with for a moment, because an open-source tool flow is, by definition, part of our supply chain.</a:t>
            </a:r>
          </a:p>
        </p:txBody>
      </p:sp>
      <p:sp>
        <p:nvSpPr>
          <p:cNvPr id="4" name="Slide Number Placeholder 3">
            <a:extLst>
              <a:ext uri="{FF2B5EF4-FFF2-40B4-BE49-F238E27FC236}">
                <a16:creationId xmlns:a16="http://schemas.microsoft.com/office/drawing/2014/main" id="{E16BB76B-3D93-B6D4-03C2-F411D629F78F}"/>
              </a:ext>
            </a:extLst>
          </p:cNvPr>
          <p:cNvSpPr>
            <a:spLocks noGrp="1"/>
          </p:cNvSpPr>
          <p:nvPr>
            <p:ph type="sldNum" sz="quarter" idx="5"/>
          </p:nvPr>
        </p:nvSpPr>
        <p:spPr/>
        <p:txBody>
          <a:bodyPr/>
          <a:lstStyle/>
          <a:p>
            <a:fld id="{66272F09-3565-4B89-9497-DE27ED19A198}" type="slidenum">
              <a:rPr lang="he-IL" smtClean="0"/>
              <a:t>5</a:t>
            </a:fld>
            <a:endParaRPr lang="he-IL"/>
          </a:p>
        </p:txBody>
      </p:sp>
    </p:spTree>
    <p:extLst>
      <p:ext uri="{BB962C8B-B14F-4D97-AF65-F5344CB8AC3E}">
        <p14:creationId xmlns:p14="http://schemas.microsoft.com/office/powerpoint/2010/main" val="1597883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F0BE8-356C-1377-299C-3D6E356B93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20D9A-A6B4-8CC6-B570-A62F199DE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5F52A8-BA60-0D55-DAC6-E2E4619BAEEE}"/>
              </a:ext>
            </a:extLst>
          </p:cNvPr>
          <p:cNvSpPr>
            <a:spLocks noGrp="1"/>
          </p:cNvSpPr>
          <p:nvPr>
            <p:ph type="body" idx="1"/>
          </p:nvPr>
        </p:nvSpPr>
        <p:spPr/>
        <p:txBody>
          <a:bodyPr/>
          <a:lstStyle/>
          <a:p>
            <a:pPr algn="l"/>
            <a:r>
              <a:rPr lang="en-US" dirty="0"/>
              <a:t>So how do we actually respond, not just in words but in practice? The way I see it, we treat security the same way we already learned to treat functional correctness, with coverage metrics instead of intuition. Think about it this way. If the concern is hardware Trojans, we reach for obfuscation and camouflaging. If the concern is piracy, we reach for IC metering and split manufacturing. But none of that means much unless we attach a real metric to each countermeasure, something like probability of detection, bits of information leaked, or the distance between chip responses. Without that number, we're not actually verifying anything. We're just hoping. But unfortunately that number do not exist for security like it does for other metrics like PPA. </a:t>
            </a:r>
          </a:p>
        </p:txBody>
      </p:sp>
      <p:sp>
        <p:nvSpPr>
          <p:cNvPr id="4" name="Slide Number Placeholder 3">
            <a:extLst>
              <a:ext uri="{FF2B5EF4-FFF2-40B4-BE49-F238E27FC236}">
                <a16:creationId xmlns:a16="http://schemas.microsoft.com/office/drawing/2014/main" id="{41300C34-A0A5-EAE9-97FE-031304ACAC62}"/>
              </a:ext>
            </a:extLst>
          </p:cNvPr>
          <p:cNvSpPr>
            <a:spLocks noGrp="1"/>
          </p:cNvSpPr>
          <p:nvPr>
            <p:ph type="sldNum" sz="quarter" idx="5"/>
          </p:nvPr>
        </p:nvSpPr>
        <p:spPr/>
        <p:txBody>
          <a:bodyPr/>
          <a:lstStyle/>
          <a:p>
            <a:fld id="{66272F09-3565-4B89-9497-DE27ED19A198}" type="slidenum">
              <a:rPr lang="he-IL" smtClean="0"/>
              <a:t>6</a:t>
            </a:fld>
            <a:endParaRPr lang="he-IL"/>
          </a:p>
        </p:txBody>
      </p:sp>
    </p:spTree>
    <p:extLst>
      <p:ext uri="{BB962C8B-B14F-4D97-AF65-F5344CB8AC3E}">
        <p14:creationId xmlns:p14="http://schemas.microsoft.com/office/powerpoint/2010/main" val="4193054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34BAC-07F1-0E65-4415-6D2F7BB8F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503896-64E7-B8E8-59C9-4CDB0F76F5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3415A2-A2DF-63CB-F300-B6A4D9CF322E}"/>
              </a:ext>
            </a:extLst>
          </p:cNvPr>
          <p:cNvSpPr>
            <a:spLocks noGrp="1"/>
          </p:cNvSpPr>
          <p:nvPr>
            <p:ph type="body" idx="1"/>
          </p:nvPr>
        </p:nvSpPr>
        <p:spPr/>
        <p:txBody>
          <a:bodyPr/>
          <a:lstStyle/>
          <a:p>
            <a:pPr algn="l"/>
            <a:r>
              <a:rPr lang="en-US" dirty="0"/>
              <a:t>And this brings me to the trend that worries me most. I picked this chart because it shows that open source RTLs like RISC-V integration across SoCs is growing at a steady, encouraging pace. Hardware vulnerability disclosures are also climbing exponentially. And that is a very important factor for us. And the problem is there aren't enough tools that can help cover the gap. I don't think we close that gap by simply hiring more people, because expertise just doesn't scale that way. So we need to come up ideas and ways to improve our open-source tools to fight this. And, the goal isn't to replace the security engineer. It's to give them more reach.</a:t>
            </a:r>
          </a:p>
        </p:txBody>
      </p:sp>
      <p:sp>
        <p:nvSpPr>
          <p:cNvPr id="4" name="Slide Number Placeholder 3">
            <a:extLst>
              <a:ext uri="{FF2B5EF4-FFF2-40B4-BE49-F238E27FC236}">
                <a16:creationId xmlns:a16="http://schemas.microsoft.com/office/drawing/2014/main" id="{59C98842-08B9-7CCB-635A-46F5933795A4}"/>
              </a:ext>
            </a:extLst>
          </p:cNvPr>
          <p:cNvSpPr>
            <a:spLocks noGrp="1"/>
          </p:cNvSpPr>
          <p:nvPr>
            <p:ph type="sldNum" sz="quarter" idx="5"/>
          </p:nvPr>
        </p:nvSpPr>
        <p:spPr/>
        <p:txBody>
          <a:bodyPr/>
          <a:lstStyle/>
          <a:p>
            <a:fld id="{66272F09-3565-4B89-9497-DE27ED19A198}" type="slidenum">
              <a:rPr lang="he-IL" smtClean="0"/>
              <a:t>7</a:t>
            </a:fld>
            <a:endParaRPr lang="he-IL"/>
          </a:p>
        </p:txBody>
      </p:sp>
    </p:spTree>
    <p:extLst>
      <p:ext uri="{BB962C8B-B14F-4D97-AF65-F5344CB8AC3E}">
        <p14:creationId xmlns:p14="http://schemas.microsoft.com/office/powerpoint/2010/main" val="7070449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Now, everything I just described sounds good in principle, but a countermeasure that never makes it into a real design is really just a paper sitting on a shelf. And to actually ship, it has to clear quite a few bars at the same time. It needs to genuinely stop the threat it's aimed at. It has to live within the power, performance, and area budget we're already working inside. It needs to get along with whatever other countermeasures are already present in the design, without quietly undoing each other. It has to preserve the exact same functional behavior after it's inserted, provably, not just probably. And it needs to keep holding up as new kinds of threats show up, not just the ones we knew about when we designed it. That's a demanding list. But if you think about it, it's really just a constrained optimization problem, and that happens to be something this community already does better than almost anyone else.</a:t>
            </a:r>
          </a:p>
        </p:txBody>
      </p:sp>
      <p:sp>
        <p:nvSpPr>
          <p:cNvPr id="4" name="Slide Number Placeholder 3"/>
          <p:cNvSpPr>
            <a:spLocks noGrp="1"/>
          </p:cNvSpPr>
          <p:nvPr>
            <p:ph type="sldNum" sz="quarter" idx="5"/>
          </p:nvPr>
        </p:nvSpPr>
        <p:spPr/>
        <p:txBody>
          <a:bodyPr/>
          <a:lstStyle/>
          <a:p>
            <a:fld id="{66272F09-3565-4B89-9497-DE27ED19A198}" type="slidenum">
              <a:rPr lang="he-IL" smtClean="0"/>
              <a:t>8</a:t>
            </a:fld>
            <a:endParaRPr lang="he-IL"/>
          </a:p>
        </p:txBody>
      </p:sp>
    </p:spTree>
    <p:extLst>
      <p:ext uri="{BB962C8B-B14F-4D97-AF65-F5344CB8AC3E}">
        <p14:creationId xmlns:p14="http://schemas.microsoft.com/office/powerpoint/2010/main" val="742453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35416-EDC2-01DD-BB79-3A44C2151F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F707D6-2C89-72C6-73CE-B5E9349366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99A6B-F8A6-2FCD-95AE-1CC338DA1FD5}"/>
              </a:ext>
            </a:extLst>
          </p:cNvPr>
          <p:cNvSpPr>
            <a:spLocks noGrp="1"/>
          </p:cNvSpPr>
          <p:nvPr>
            <p:ph type="body" idx="1"/>
          </p:nvPr>
        </p:nvSpPr>
        <p:spPr/>
        <p:txBody>
          <a:bodyPr/>
          <a:lstStyle/>
          <a:p>
            <a:pPr algn="l"/>
            <a:r>
              <a:rPr lang="en-US" dirty="0"/>
              <a:t>So let me bring this together. Adoption, I think, is already a settled question. Thirteen billion dollars in public funding and a complete, open RTL to GDSII flow settled it. What's left isn't really a technical question anymore. It's a choice. We can start treating security as a first class design requirement, with the same seriousness we already give timing closure and area, or we can keep bolting it on afterward and paying for it later, usually at a much higher price. </a:t>
            </a:r>
          </a:p>
        </p:txBody>
      </p:sp>
      <p:sp>
        <p:nvSpPr>
          <p:cNvPr id="4" name="Slide Number Placeholder 3">
            <a:extLst>
              <a:ext uri="{FF2B5EF4-FFF2-40B4-BE49-F238E27FC236}">
                <a16:creationId xmlns:a16="http://schemas.microsoft.com/office/drawing/2014/main" id="{2A20AAB4-B6BA-E43D-7A5C-57AE429C6250}"/>
              </a:ext>
            </a:extLst>
          </p:cNvPr>
          <p:cNvSpPr>
            <a:spLocks noGrp="1"/>
          </p:cNvSpPr>
          <p:nvPr>
            <p:ph type="sldNum" sz="quarter" idx="5"/>
          </p:nvPr>
        </p:nvSpPr>
        <p:spPr/>
        <p:txBody>
          <a:bodyPr/>
          <a:lstStyle/>
          <a:p>
            <a:fld id="{66272F09-3565-4B89-9497-DE27ED19A198}" type="slidenum">
              <a:rPr lang="he-IL" smtClean="0"/>
              <a:t>9</a:t>
            </a:fld>
            <a:endParaRPr lang="he-IL"/>
          </a:p>
        </p:txBody>
      </p:sp>
    </p:spTree>
    <p:extLst>
      <p:ext uri="{BB962C8B-B14F-4D97-AF65-F5344CB8AC3E}">
        <p14:creationId xmlns:p14="http://schemas.microsoft.com/office/powerpoint/2010/main" val="17439925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512E8-1719-95FB-AF50-4AA63FD3E8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5EB0D-08F9-3AC2-A84C-BA16A923E3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747965-A85A-73B4-8316-3DBBD9DA6196}"/>
              </a:ext>
            </a:extLst>
          </p:cNvPr>
          <p:cNvSpPr>
            <a:spLocks noGrp="1"/>
          </p:cNvSpPr>
          <p:nvPr>
            <p:ph type="body" idx="1"/>
          </p:nvPr>
        </p:nvSpPr>
        <p:spPr/>
        <p:txBody>
          <a:bodyPr/>
          <a:lstStyle/>
          <a:p>
            <a:pPr algn="l"/>
            <a:endParaRPr lang="en-US" dirty="0"/>
          </a:p>
        </p:txBody>
      </p:sp>
      <p:sp>
        <p:nvSpPr>
          <p:cNvPr id="4" name="Slide Number Placeholder 3">
            <a:extLst>
              <a:ext uri="{FF2B5EF4-FFF2-40B4-BE49-F238E27FC236}">
                <a16:creationId xmlns:a16="http://schemas.microsoft.com/office/drawing/2014/main" id="{052E96C8-35AF-A4BB-971A-C9E487150765}"/>
              </a:ext>
            </a:extLst>
          </p:cNvPr>
          <p:cNvSpPr>
            <a:spLocks noGrp="1"/>
          </p:cNvSpPr>
          <p:nvPr>
            <p:ph type="sldNum" sz="quarter" idx="5"/>
          </p:nvPr>
        </p:nvSpPr>
        <p:spPr/>
        <p:txBody>
          <a:bodyPr/>
          <a:lstStyle/>
          <a:p>
            <a:fld id="{66272F09-3565-4B89-9497-DE27ED19A198}" type="slidenum">
              <a:rPr lang="he-IL" smtClean="0"/>
              <a:t>10</a:t>
            </a:fld>
            <a:endParaRPr lang="he-IL"/>
          </a:p>
        </p:txBody>
      </p:sp>
    </p:spTree>
    <p:extLst>
      <p:ext uri="{BB962C8B-B14F-4D97-AF65-F5344CB8AC3E}">
        <p14:creationId xmlns:p14="http://schemas.microsoft.com/office/powerpoint/2010/main" val="22814093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F1B93-EB2A-FEFC-2949-BB6C32AE30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4EB00-85EB-814A-2A22-17DD0CDB03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F9158A-83D1-B3DB-3F93-DD138FAE96E7}"/>
              </a:ext>
            </a:extLst>
          </p:cNvPr>
          <p:cNvSpPr>
            <a:spLocks noGrp="1"/>
          </p:cNvSpPr>
          <p:nvPr>
            <p:ph type="body" idx="1"/>
          </p:nvPr>
        </p:nvSpPr>
        <p:spPr/>
        <p:txBody>
          <a:bodyPr/>
          <a:lstStyle/>
          <a:p>
            <a:pPr algn="l"/>
            <a:r>
              <a:rPr lang="en-US" dirty="0"/>
              <a:t>And I'll leave you with one thought before we open it up for questions. The next chapter of open-source EDA won't be defined by whether it gets adopted. That part is behind us. It'll be defined by whether it's trusted. Thank you.</a:t>
            </a:r>
          </a:p>
        </p:txBody>
      </p:sp>
      <p:sp>
        <p:nvSpPr>
          <p:cNvPr id="4" name="Slide Number Placeholder 3">
            <a:extLst>
              <a:ext uri="{FF2B5EF4-FFF2-40B4-BE49-F238E27FC236}">
                <a16:creationId xmlns:a16="http://schemas.microsoft.com/office/drawing/2014/main" id="{65ACE34F-297B-1330-F0B6-43159209CA8C}"/>
              </a:ext>
            </a:extLst>
          </p:cNvPr>
          <p:cNvSpPr>
            <a:spLocks noGrp="1"/>
          </p:cNvSpPr>
          <p:nvPr>
            <p:ph type="sldNum" sz="quarter" idx="5"/>
          </p:nvPr>
        </p:nvSpPr>
        <p:spPr/>
        <p:txBody>
          <a:bodyPr/>
          <a:lstStyle/>
          <a:p>
            <a:fld id="{66272F09-3565-4B89-9497-DE27ED19A198}" type="slidenum">
              <a:rPr lang="he-IL" smtClean="0"/>
              <a:t>11</a:t>
            </a:fld>
            <a:endParaRPr lang="he-IL"/>
          </a:p>
        </p:txBody>
      </p:sp>
    </p:spTree>
    <p:extLst>
      <p:ext uri="{BB962C8B-B14F-4D97-AF65-F5344CB8AC3E}">
        <p14:creationId xmlns:p14="http://schemas.microsoft.com/office/powerpoint/2010/main" val="26884070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he-IL"/>
          </a:p>
        </p:txBody>
      </p:sp>
      <p:sp>
        <p:nvSpPr>
          <p:cNvPr id="7" name="Title 6"/>
          <p:cNvSpPr>
            <a:spLocks noGrp="1"/>
          </p:cNvSpPr>
          <p:nvPr>
            <p:ph type="title"/>
          </p:nvPr>
        </p:nvSpPr>
        <p:spPr/>
        <p:txBody>
          <a:bodyPr/>
          <a:lstStyle>
            <a:lvl1pPr>
              <a:defRPr b="1"/>
            </a:lvl1pPr>
          </a:lstStyle>
          <a:p>
            <a:r>
              <a:rPr lang="en-US"/>
              <a:t>Click to edit Master title style</a:t>
            </a:r>
          </a:p>
        </p:txBody>
      </p:sp>
      <p:sp>
        <p:nvSpPr>
          <p:cNvPr id="11" name="Date Placeholder 10"/>
          <p:cNvSpPr>
            <a:spLocks noGrp="1"/>
          </p:cNvSpPr>
          <p:nvPr>
            <p:ph type="dt" sz="half" idx="10"/>
          </p:nvPr>
        </p:nvSpPr>
        <p:spPr/>
        <p:txBody>
          <a:bodyPr/>
          <a:lstStyle/>
          <a:p>
            <a:fld id="{C39A170E-FB77-44A4-ADC4-3C45C37D6B5D}" type="datetime8">
              <a:rPr lang="he-IL" smtClean="0"/>
              <a:t>28 ביולי 26</a:t>
            </a:fld>
            <a:endParaRPr lang="he-IL"/>
          </a:p>
        </p:txBody>
      </p:sp>
      <p:sp>
        <p:nvSpPr>
          <p:cNvPr id="12" name="Footer Placeholder 11"/>
          <p:cNvSpPr>
            <a:spLocks noGrp="1"/>
          </p:cNvSpPr>
          <p:nvPr>
            <p:ph type="ftr" sz="quarter" idx="11"/>
          </p:nvPr>
        </p:nvSpPr>
        <p:spPr/>
        <p:txBody>
          <a:bodyPr/>
          <a:lstStyle/>
          <a:p>
            <a:endParaRPr lang="he-IL"/>
          </a:p>
        </p:txBody>
      </p:sp>
      <p:sp>
        <p:nvSpPr>
          <p:cNvPr id="8" name="Rectangle 5">
            <a:extLst>
              <a:ext uri="{FF2B5EF4-FFF2-40B4-BE49-F238E27FC236}">
                <a16:creationId xmlns:a16="http://schemas.microsoft.com/office/drawing/2014/main" id="{AE046928-6538-47E1-9F59-4253893763F6}"/>
              </a:ext>
            </a:extLst>
          </p:cNvPr>
          <p:cNvSpPr/>
          <p:nvPr userDrawn="1"/>
        </p:nvSpPr>
        <p:spPr>
          <a:xfrm>
            <a:off x="-1" y="6583681"/>
            <a:ext cx="12174583" cy="274320"/>
          </a:xfrm>
          <a:prstGeom prst="rect">
            <a:avLst/>
          </a:prstGeom>
          <a:solidFill>
            <a:srgbClr val="FFCA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CA29"/>
              </a:solidFill>
            </a:endParaRPr>
          </a:p>
        </p:txBody>
      </p:sp>
      <p:pic>
        <p:nvPicPr>
          <p:cNvPr id="9" name="Picture 4">
            <a:extLst>
              <a:ext uri="{FF2B5EF4-FFF2-40B4-BE49-F238E27FC236}">
                <a16:creationId xmlns:a16="http://schemas.microsoft.com/office/drawing/2014/main" id="{7021FA35-06AC-4554-85F5-E04CF0B4327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60629" y="6011570"/>
            <a:ext cx="625451" cy="843982"/>
          </a:xfrm>
          <a:prstGeom prst="rect">
            <a:avLst/>
          </a:prstGeom>
        </p:spPr>
      </p:pic>
      <p:sp>
        <p:nvSpPr>
          <p:cNvPr id="13" name="Slide Number Placeholder 12"/>
          <p:cNvSpPr>
            <a:spLocks noGrp="1"/>
          </p:cNvSpPr>
          <p:nvPr>
            <p:ph type="sldNum" sz="quarter" idx="12"/>
          </p:nvPr>
        </p:nvSpPr>
        <p:spPr>
          <a:xfrm>
            <a:off x="8915106" y="6519870"/>
            <a:ext cx="2743200" cy="365125"/>
          </a:xfrm>
        </p:spPr>
        <p:txBody>
          <a:bodyPr/>
          <a:lstStyle/>
          <a:p>
            <a:pPr marL="228594" indent="-228594">
              <a:buFont typeface="+mj-lt"/>
              <a:buAutoNum type="arabicPeriod"/>
            </a:pPr>
            <a:fld id="{8BF23EE3-CCB0-4D64-9D25-ED43013B1052}" type="slidenum">
              <a:rPr lang="he-IL" smtClean="0"/>
              <a:pPr marL="228594" indent="-228594">
                <a:buFont typeface="+mj-lt"/>
                <a:buAutoNum type="arabicPeriod"/>
              </a:pPr>
              <a:t>‹#›</a:t>
            </a:fld>
            <a:endParaRPr lang="he-IL"/>
          </a:p>
        </p:txBody>
      </p:sp>
    </p:spTree>
    <p:extLst>
      <p:ext uri="{BB962C8B-B14F-4D97-AF65-F5344CB8AC3E}">
        <p14:creationId xmlns:p14="http://schemas.microsoft.com/office/powerpoint/2010/main" val="2996097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a:xfrm>
            <a:off x="552091" y="2820"/>
            <a:ext cx="11266097" cy="1325563"/>
          </a:xfrm>
        </p:spPr>
        <p:txBody>
          <a:bodyPr/>
          <a:lstStyle>
            <a:lvl1pPr algn="l" rtl="0">
              <a:defRPr b="1"/>
            </a:lvl1pPr>
          </a:lstStyle>
          <a:p>
            <a:r>
              <a:rPr lang="en-US"/>
              <a:t>Click to edit Master title style</a:t>
            </a:r>
            <a:endParaRPr lang="he-IL"/>
          </a:p>
        </p:txBody>
      </p:sp>
      <p:sp>
        <p:nvSpPr>
          <p:cNvPr id="3" name="מציין מיקום תוכן 2"/>
          <p:cNvSpPr>
            <a:spLocks noGrp="1"/>
          </p:cNvSpPr>
          <p:nvPr>
            <p:ph idx="1" hasCustomPrompt="1"/>
          </p:nvPr>
        </p:nvSpPr>
        <p:spPr>
          <a:xfrm>
            <a:off x="552091" y="1555710"/>
            <a:ext cx="11266097" cy="4798195"/>
          </a:xfrm>
        </p:spPr>
        <p:txBody>
          <a:bodyPr/>
          <a:lstStyle>
            <a:lvl1pPr algn="l" rtl="0">
              <a:defRPr/>
            </a:lvl1pPr>
            <a:lvl2pPr algn="l" rtl="0">
              <a:defRPr/>
            </a:lvl2pPr>
            <a:lvl3pPr algn="l" rtl="0">
              <a:defRPr/>
            </a:lvl3pPr>
            <a:lvl4pPr algn="l" rtl="0">
              <a:defRPr/>
            </a:lvl4pPr>
            <a:lvl5pPr algn="l" rtl="0">
              <a:defRPr/>
            </a:lvl5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95BDDCFB-0294-4123-8B8A-9CCA4AE0F85D}" type="datetime8">
              <a:rPr lang="he-IL" smtClean="0"/>
              <a:t>28 ביולי 26</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a:xfrm>
            <a:off x="9431382" y="0"/>
            <a:ext cx="2743200" cy="365125"/>
          </a:xfrm>
        </p:spPr>
        <p:txBody>
          <a:bodyPr/>
          <a:lstStyle/>
          <a:p>
            <a:fld id="{494A307A-1DDE-4068-8F8B-93AEF3FE836C}" type="slidenum">
              <a:rPr lang="he-IL" smtClean="0"/>
              <a:t>‹#›</a:t>
            </a:fld>
            <a:endParaRPr lang="he-IL"/>
          </a:p>
        </p:txBody>
      </p:sp>
      <p:sp>
        <p:nvSpPr>
          <p:cNvPr id="9" name="Rectangle 5">
            <a:extLst>
              <a:ext uri="{FF2B5EF4-FFF2-40B4-BE49-F238E27FC236}">
                <a16:creationId xmlns:a16="http://schemas.microsoft.com/office/drawing/2014/main" id="{20831407-047C-4599-8CD8-574470CB8E36}"/>
              </a:ext>
            </a:extLst>
          </p:cNvPr>
          <p:cNvSpPr/>
          <p:nvPr userDrawn="1"/>
        </p:nvSpPr>
        <p:spPr>
          <a:xfrm>
            <a:off x="-1" y="6583681"/>
            <a:ext cx="12174583" cy="274320"/>
          </a:xfrm>
          <a:prstGeom prst="rect">
            <a:avLst/>
          </a:prstGeom>
          <a:solidFill>
            <a:srgbClr val="FFCA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CA29"/>
              </a:solidFill>
            </a:endParaRPr>
          </a:p>
        </p:txBody>
      </p:sp>
      <p:pic>
        <p:nvPicPr>
          <p:cNvPr id="10" name="Picture 4">
            <a:extLst>
              <a:ext uri="{FF2B5EF4-FFF2-40B4-BE49-F238E27FC236}">
                <a16:creationId xmlns:a16="http://schemas.microsoft.com/office/drawing/2014/main" id="{63A0C530-52E4-4EC8-B70F-8233EE1560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60629" y="6011570"/>
            <a:ext cx="625451" cy="843982"/>
          </a:xfrm>
          <a:prstGeom prst="rect">
            <a:avLst/>
          </a:prstGeom>
        </p:spPr>
      </p:pic>
    </p:spTree>
    <p:extLst>
      <p:ext uri="{BB962C8B-B14F-4D97-AF65-F5344CB8AC3E}">
        <p14:creationId xmlns:p14="http://schemas.microsoft.com/office/powerpoint/2010/main" val="18826179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9"/>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209551" y="6356354"/>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39A170E-FB77-44A4-ADC4-3C45C37D6B5D}" type="datetime8">
              <a:rPr lang="he-IL" smtClean="0"/>
              <a:t>28 ביולי 26</a:t>
            </a:fld>
            <a:endParaRPr lang="he-IL"/>
          </a:p>
        </p:txBody>
      </p:sp>
      <p:sp>
        <p:nvSpPr>
          <p:cNvPr id="5" name="מציין מיקום של כותרת תחתונה 4"/>
          <p:cNvSpPr>
            <a:spLocks noGrp="1"/>
          </p:cNvSpPr>
          <p:nvPr>
            <p:ph type="ftr" sz="quarter" idx="3"/>
          </p:nvPr>
        </p:nvSpPr>
        <p:spPr>
          <a:xfrm>
            <a:off x="4038600" y="6356354"/>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9369425" y="6362704"/>
            <a:ext cx="2743200" cy="365125"/>
          </a:xfrm>
          <a:prstGeom prst="rect">
            <a:avLst/>
          </a:prstGeom>
        </p:spPr>
        <p:txBody>
          <a:bodyPr vert="horz" lIns="91440" tIns="45720" rIns="91440" bIns="45720" rtlCol="1" anchor="ctr"/>
          <a:lstStyle>
            <a:lvl1pPr algn="r" rtl="0">
              <a:defRPr sz="1200">
                <a:solidFill>
                  <a:schemeClr val="tx1">
                    <a:tint val="75000"/>
                  </a:schemeClr>
                </a:solidFill>
              </a:defRPr>
            </a:lvl1pPr>
          </a:lstStyle>
          <a:p>
            <a:pPr marL="228594" indent="-228594">
              <a:buFont typeface="+mj-lt"/>
              <a:buAutoNum type="arabicPeriod"/>
            </a:pPr>
            <a:fld id="{8BF23EE3-CCB0-4D64-9D25-ED43013B1052}" type="slidenum">
              <a:rPr lang="he-IL" smtClean="0"/>
              <a:pPr marL="228594" indent="-228594">
                <a:buFont typeface="+mj-lt"/>
                <a:buAutoNum type="arabicPeriod"/>
              </a:pPr>
              <a:t>‹#›</a:t>
            </a:fld>
            <a:endParaRPr lang="he-IL"/>
          </a:p>
        </p:txBody>
      </p:sp>
    </p:spTree>
    <p:extLst>
      <p:ext uri="{BB962C8B-B14F-4D97-AF65-F5344CB8AC3E}">
        <p14:creationId xmlns:p14="http://schemas.microsoft.com/office/powerpoint/2010/main" val="1726114502"/>
      </p:ext>
    </p:extLst>
  </p:cSld>
  <p:clrMap bg1="lt1" tx1="dk1" bg2="lt2" tx2="dk2" accent1="accent1" accent2="accent2" accent3="accent3" accent4="accent4" accent5="accent5" accent6="accent6" hlink="hlink" folHlink="folHlink"/>
  <p:sldLayoutIdLst>
    <p:sldLayoutId id="2147483720" r:id="rId1"/>
    <p:sldLayoutId id="2147483721" r:id="rId2"/>
  </p:sldLayoutIdLst>
  <p:hf hdr="0" ftr="0" dt="0"/>
  <p:txStyles>
    <p:titleStyle>
      <a:lvl1pPr algn="l" defTabSz="914377" rtl="1"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594" indent="-228594" algn="l" defTabSz="914377"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r" defTabSz="914377"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377" rtl="1" eaLnBrk="1" latinLnBrk="0" hangingPunct="1">
        <a:defRPr sz="1800" kern="1200">
          <a:solidFill>
            <a:schemeClr val="tx1"/>
          </a:solidFill>
          <a:latin typeface="+mn-lt"/>
          <a:ea typeface="+mn-ea"/>
          <a:cs typeface="+mn-cs"/>
        </a:defRPr>
      </a:lvl1pPr>
      <a:lvl2pPr marL="457189" algn="r" defTabSz="914377" rtl="1" eaLnBrk="1" latinLnBrk="0" hangingPunct="1">
        <a:defRPr sz="1800" kern="1200">
          <a:solidFill>
            <a:schemeClr val="tx1"/>
          </a:solidFill>
          <a:latin typeface="+mn-lt"/>
          <a:ea typeface="+mn-ea"/>
          <a:cs typeface="+mn-cs"/>
        </a:defRPr>
      </a:lvl2pPr>
      <a:lvl3pPr marL="914377" algn="r" defTabSz="914377" rtl="1" eaLnBrk="1" latinLnBrk="0" hangingPunct="1">
        <a:defRPr sz="1800" kern="1200">
          <a:solidFill>
            <a:schemeClr val="tx1"/>
          </a:solidFill>
          <a:latin typeface="+mn-lt"/>
          <a:ea typeface="+mn-ea"/>
          <a:cs typeface="+mn-cs"/>
        </a:defRPr>
      </a:lvl3pPr>
      <a:lvl4pPr marL="1371566" algn="r" defTabSz="914377" rtl="1" eaLnBrk="1" latinLnBrk="0" hangingPunct="1">
        <a:defRPr sz="1800" kern="1200">
          <a:solidFill>
            <a:schemeClr val="tx1"/>
          </a:solidFill>
          <a:latin typeface="+mn-lt"/>
          <a:ea typeface="+mn-ea"/>
          <a:cs typeface="+mn-cs"/>
        </a:defRPr>
      </a:lvl4pPr>
      <a:lvl5pPr marL="1828754" algn="r" defTabSz="914377" rtl="1" eaLnBrk="1" latinLnBrk="0" hangingPunct="1">
        <a:defRPr sz="1800" kern="1200">
          <a:solidFill>
            <a:schemeClr val="tx1"/>
          </a:solidFill>
          <a:latin typeface="+mn-lt"/>
          <a:ea typeface="+mn-ea"/>
          <a:cs typeface="+mn-cs"/>
        </a:defRPr>
      </a:lvl5pPr>
      <a:lvl6pPr marL="2285943" algn="r" defTabSz="914377" rtl="1" eaLnBrk="1" latinLnBrk="0" hangingPunct="1">
        <a:defRPr sz="1800" kern="1200">
          <a:solidFill>
            <a:schemeClr val="tx1"/>
          </a:solidFill>
          <a:latin typeface="+mn-lt"/>
          <a:ea typeface="+mn-ea"/>
          <a:cs typeface="+mn-cs"/>
        </a:defRPr>
      </a:lvl6pPr>
      <a:lvl7pPr marL="2743131" algn="r" defTabSz="914377" rtl="1" eaLnBrk="1" latinLnBrk="0" hangingPunct="1">
        <a:defRPr sz="1800" kern="1200">
          <a:solidFill>
            <a:schemeClr val="tx1"/>
          </a:solidFill>
          <a:latin typeface="+mn-lt"/>
          <a:ea typeface="+mn-ea"/>
          <a:cs typeface="+mn-cs"/>
        </a:defRPr>
      </a:lvl7pPr>
      <a:lvl8pPr marL="3200320" algn="r" defTabSz="914377" rtl="1" eaLnBrk="1" latinLnBrk="0" hangingPunct="1">
        <a:defRPr sz="1800" kern="1200">
          <a:solidFill>
            <a:schemeClr val="tx1"/>
          </a:solidFill>
          <a:latin typeface="+mn-lt"/>
          <a:ea typeface="+mn-ea"/>
          <a:cs typeface="+mn-cs"/>
        </a:defRPr>
      </a:lvl8pPr>
      <a:lvl9pPr marL="3657509" algn="r" defTabSz="914377"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emf"/></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jpe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mt="99498"/>
          </a:blip>
          <a:stretch>
            <a:fillRect/>
          </a:stretch>
        </a:blipFill>
        <a:effectLst/>
      </p:bgPr>
    </p:bg>
    <p:spTree>
      <p:nvGrpSpPr>
        <p:cNvPr id="1" name=""/>
        <p:cNvGrpSpPr/>
        <p:nvPr/>
      </p:nvGrpSpPr>
      <p:grpSpPr>
        <a:xfrm>
          <a:off x="0" y="0"/>
          <a:ext cx="0" cy="0"/>
          <a:chOff x="0" y="0"/>
          <a:chExt cx="0" cy="0"/>
        </a:xfrm>
      </p:grpSpPr>
      <p:pic>
        <p:nvPicPr>
          <p:cNvPr id="7" name="Picture 3">
            <a:extLst>
              <a:ext uri="{FF2B5EF4-FFF2-40B4-BE49-F238E27FC236}">
                <a16:creationId xmlns:a16="http://schemas.microsoft.com/office/drawing/2014/main" id="{68AF463D-0CA4-42CD-9C8A-3CBDF5CCE91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482547" y="5908431"/>
            <a:ext cx="703698" cy="949569"/>
          </a:xfrm>
          <a:prstGeom prst="rect">
            <a:avLst/>
          </a:prstGeom>
        </p:spPr>
      </p:pic>
      <p:sp>
        <p:nvSpPr>
          <p:cNvPr id="6" name="TextBox 5">
            <a:extLst>
              <a:ext uri="{FF2B5EF4-FFF2-40B4-BE49-F238E27FC236}">
                <a16:creationId xmlns:a16="http://schemas.microsoft.com/office/drawing/2014/main" id="{DC7EAE56-0A08-793F-B190-2E86AE2B5012}"/>
              </a:ext>
            </a:extLst>
          </p:cNvPr>
          <p:cNvSpPr txBox="1"/>
          <p:nvPr/>
        </p:nvSpPr>
        <p:spPr>
          <a:xfrm>
            <a:off x="1" y="-198781"/>
            <a:ext cx="12186244" cy="6586418"/>
          </a:xfrm>
          <a:prstGeom prst="rect">
            <a:avLst/>
          </a:prstGeom>
          <a:noFill/>
        </p:spPr>
        <p:txBody>
          <a:bodyPr wrap="square">
            <a:spAutoFit/>
          </a:bodyPr>
          <a:lstStyle/>
          <a:p>
            <a:pPr algn="ctr" rtl="0"/>
            <a:r>
              <a:rPr lang="en-US" sz="2000" dirty="0">
                <a:solidFill>
                  <a:schemeClr val="bg1"/>
                </a:solidFill>
                <a:cs typeface="Times New Roman" panose="02020603050405020304" pitchFamily="18" charset="0"/>
              </a:rPr>
              <a:t>​</a:t>
            </a:r>
          </a:p>
          <a:p>
            <a:pPr algn="ctr" rtl="0"/>
            <a:endParaRPr lang="en-US" sz="2000" dirty="0">
              <a:solidFill>
                <a:schemeClr val="bg1"/>
              </a:solidFill>
              <a:cs typeface="Times New Roman" panose="02020603050405020304" pitchFamily="18" charset="0"/>
            </a:endParaRPr>
          </a:p>
          <a:p>
            <a:pPr algn="ctr" rtl="0"/>
            <a:r>
              <a:rPr lang="en-US" sz="5400" b="1" dirty="0">
                <a:solidFill>
                  <a:schemeClr val="bg1"/>
                </a:solidFill>
                <a:cs typeface="Times New Roman" panose="02020603050405020304" pitchFamily="18" charset="0"/>
              </a:rPr>
              <a:t>Secure Open-Source EDA</a:t>
            </a:r>
          </a:p>
          <a:p>
            <a:pPr algn="ctr" rtl="0"/>
            <a:r>
              <a:rPr lang="en-US" sz="3200" i="1" dirty="0">
                <a:solidFill>
                  <a:schemeClr val="bg1"/>
                </a:solidFill>
                <a:cs typeface="Times New Roman" panose="02020603050405020304" pitchFamily="18" charset="0"/>
              </a:rPr>
              <a:t>building trust into the tools that build silicon</a:t>
            </a:r>
            <a:br>
              <a:rPr lang="en-US" sz="3200" i="1" dirty="0">
                <a:solidFill>
                  <a:schemeClr val="bg1"/>
                </a:solidFill>
                <a:cs typeface="Times New Roman" panose="02020603050405020304" pitchFamily="18" charset="0"/>
              </a:rPr>
            </a:br>
            <a:endParaRPr lang="en-US" sz="2000" i="1" dirty="0">
              <a:solidFill>
                <a:schemeClr val="bg1"/>
              </a:solidFill>
              <a:cs typeface="Times New Roman" panose="02020603050405020304" pitchFamily="18" charset="0"/>
            </a:endParaRPr>
          </a:p>
          <a:p>
            <a:pPr algn="ctr" rtl="0"/>
            <a:endParaRPr lang="en-US" sz="2000" dirty="0">
              <a:solidFill>
                <a:schemeClr val="bg1"/>
              </a:solidFill>
              <a:cs typeface="Times New Roman" panose="02020603050405020304" pitchFamily="18" charset="0"/>
            </a:endParaRPr>
          </a:p>
          <a:p>
            <a:pPr algn="ctr" rtl="0"/>
            <a:r>
              <a:rPr lang="en-US" sz="4000" b="1" dirty="0">
                <a:solidFill>
                  <a:schemeClr val="bg1"/>
                </a:solidFill>
                <a:cs typeface="Times New Roman" panose="02020603050405020304" pitchFamily="18" charset="0"/>
              </a:rPr>
              <a:t>Ishraq Tashdid​</a:t>
            </a:r>
            <a:r>
              <a:rPr lang="en-US" sz="3200" b="1" dirty="0">
                <a:solidFill>
                  <a:schemeClr val="bg1"/>
                </a:solidFill>
                <a:cs typeface="Times New Roman" panose="02020603050405020304" pitchFamily="18" charset="0"/>
              </a:rPr>
              <a:t>​</a:t>
            </a:r>
          </a:p>
          <a:p>
            <a:pPr algn="ctr" rtl="0"/>
            <a:endParaRPr lang="en-US" sz="2000" dirty="0">
              <a:solidFill>
                <a:schemeClr val="bg1"/>
              </a:solidFill>
              <a:cs typeface="Times New Roman" panose="02020603050405020304" pitchFamily="18" charset="0"/>
            </a:endParaRPr>
          </a:p>
          <a:p>
            <a:pPr algn="ctr" rtl="0"/>
            <a:endParaRPr lang="en-US" sz="2000" dirty="0">
              <a:solidFill>
                <a:schemeClr val="bg1"/>
              </a:solidFill>
              <a:cs typeface="Times New Roman" panose="02020603050405020304" pitchFamily="18" charset="0"/>
            </a:endParaRPr>
          </a:p>
          <a:p>
            <a:pPr algn="ctr" rtl="0"/>
            <a:r>
              <a:rPr lang="en-US" sz="2800" dirty="0">
                <a:solidFill>
                  <a:schemeClr val="bg1"/>
                </a:solidFill>
                <a:cs typeface="Times New Roman" panose="02020603050405020304" pitchFamily="18" charset="0"/>
              </a:rPr>
              <a:t>Security Researcher Intern Intel Corp</a:t>
            </a:r>
          </a:p>
          <a:p>
            <a:pPr algn="ctr" rtl="0"/>
            <a:r>
              <a:rPr lang="en-US" sz="2800" dirty="0">
                <a:solidFill>
                  <a:schemeClr val="bg1"/>
                </a:solidFill>
                <a:cs typeface="Times New Roman" panose="02020603050405020304" pitchFamily="18" charset="0"/>
              </a:rPr>
              <a:t>PhD Candidate at University of Central Florida, Orlando</a:t>
            </a:r>
          </a:p>
          <a:p>
            <a:pPr algn="ctr" rtl="0"/>
            <a:endParaRPr lang="en-US" sz="2400" dirty="0">
              <a:solidFill>
                <a:schemeClr val="bg1"/>
              </a:solidFill>
              <a:cs typeface="Times New Roman" panose="02020603050405020304" pitchFamily="18" charset="0"/>
            </a:endParaRPr>
          </a:p>
          <a:p>
            <a:pPr algn="ctr" rtl="0"/>
            <a:r>
              <a:rPr lang="en-US" sz="2400" dirty="0">
                <a:solidFill>
                  <a:schemeClr val="bg1"/>
                </a:solidFill>
                <a:cs typeface="Times New Roman" panose="02020603050405020304" pitchFamily="18" charset="0"/>
              </a:rPr>
              <a:t>DAC 2026</a:t>
            </a:r>
          </a:p>
          <a:p>
            <a:pPr algn="ctr" rtl="0"/>
            <a:r>
              <a:rPr lang="en-US" sz="2400" dirty="0">
                <a:solidFill>
                  <a:schemeClr val="bg1"/>
                </a:solidFill>
                <a:cs typeface="Times New Roman" panose="02020603050405020304" pitchFamily="18" charset="0"/>
              </a:rPr>
              <a:t>Birds-of-a-Feather Session</a:t>
            </a:r>
          </a:p>
          <a:p>
            <a:pPr algn="ctr" rtl="0"/>
            <a:endParaRPr lang="en-US" sz="2400" dirty="0">
              <a:solidFill>
                <a:schemeClr val="bg1"/>
              </a:solidFill>
              <a:cs typeface="Times New Roman" panose="02020603050405020304" pitchFamily="18" charset="0"/>
            </a:endParaRPr>
          </a:p>
          <a:p>
            <a:pPr algn="ctr" rtl="0"/>
            <a:r>
              <a:rPr lang="en-US" sz="2400" dirty="0">
                <a:solidFill>
                  <a:schemeClr val="bg1"/>
                </a:solidFill>
                <a:cs typeface="Times New Roman" panose="02020603050405020304" pitchFamily="18" charset="0"/>
              </a:rPr>
              <a:t>28 July 2026​</a:t>
            </a:r>
            <a:endParaRPr lang="en-US" sz="1000" dirty="0">
              <a:solidFill>
                <a:schemeClr val="bg1"/>
              </a:solidFill>
              <a:cs typeface="Times New Roman"/>
            </a:endParaRPr>
          </a:p>
        </p:txBody>
      </p:sp>
    </p:spTree>
    <p:extLst>
      <p:ext uri="{BB962C8B-B14F-4D97-AF65-F5344CB8AC3E}">
        <p14:creationId xmlns:p14="http://schemas.microsoft.com/office/powerpoint/2010/main" val="979232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CB396-ED5A-7F08-B842-4145CF2582EA}"/>
              </a:ext>
            </a:extLst>
          </p:cNvPr>
          <p:cNvSpPr>
            <a:spLocks noGrp="1"/>
          </p:cNvSpPr>
          <p:nvPr>
            <p:ph type="title"/>
          </p:nvPr>
        </p:nvSpPr>
        <p:spPr/>
        <p:txBody>
          <a:bodyPr/>
          <a:lstStyle/>
          <a:p>
            <a:r>
              <a:rPr lang="en-US" dirty="0">
                <a:latin typeface="Times New Roman"/>
                <a:cs typeface="Times New Roman"/>
              </a:rPr>
              <a:t>Need for Open-Source EDA</a:t>
            </a:r>
          </a:p>
        </p:txBody>
      </p:sp>
      <p:sp>
        <p:nvSpPr>
          <p:cNvPr id="3" name="Content Placeholder 2">
            <a:extLst>
              <a:ext uri="{FF2B5EF4-FFF2-40B4-BE49-F238E27FC236}">
                <a16:creationId xmlns:a16="http://schemas.microsoft.com/office/drawing/2014/main" id="{C5E9B869-CA0A-8A69-3F9B-5EA55DA56F41}"/>
              </a:ext>
            </a:extLst>
          </p:cNvPr>
          <p:cNvSpPr>
            <a:spLocks noGrp="1"/>
          </p:cNvSpPr>
          <p:nvPr>
            <p:ph idx="1"/>
          </p:nvPr>
        </p:nvSpPr>
        <p:spPr>
          <a:xfrm>
            <a:off x="552092" y="1233793"/>
            <a:ext cx="4609456" cy="4715806"/>
          </a:xfrm>
        </p:spPr>
        <p:txBody>
          <a:bodyPr vert="horz" lIns="91440" tIns="45720" rIns="91440" bIns="45720" rtlCol="1" anchor="t">
            <a:noAutofit/>
          </a:bodyPr>
          <a:lstStyle/>
          <a:p>
            <a:r>
              <a:rPr lang="en-US" dirty="0">
                <a:cs typeface="Times New Roman"/>
              </a:rPr>
              <a:t>The semiconductor market is growing fast, on track for $2.9T by 2029</a:t>
            </a:r>
          </a:p>
          <a:p>
            <a:r>
              <a:rPr lang="en-US" dirty="0">
                <a:cs typeface="Times New Roman"/>
              </a:rPr>
              <a:t>Every dollar of that growth runs through EDA tools at some point</a:t>
            </a:r>
          </a:p>
          <a:p>
            <a:r>
              <a:rPr lang="en-US" dirty="0">
                <a:cs typeface="Times New Roman"/>
              </a:rPr>
              <a:t>As nodes shrink, software licensing has become the largest cost in chip design </a:t>
            </a:r>
          </a:p>
          <a:p>
            <a:r>
              <a:rPr lang="en-US" dirty="0">
                <a:cs typeface="Times New Roman"/>
              </a:rPr>
              <a:t>Open-source EDA offers the same rigor, without the toll</a:t>
            </a:r>
            <a:endParaRPr lang="en-US" dirty="0">
              <a:latin typeface="Times New Roman"/>
              <a:cs typeface="Times New Roman"/>
            </a:endParaRPr>
          </a:p>
        </p:txBody>
      </p:sp>
      <p:sp>
        <p:nvSpPr>
          <p:cNvPr id="4" name="Slide Number Placeholder 3">
            <a:extLst>
              <a:ext uri="{FF2B5EF4-FFF2-40B4-BE49-F238E27FC236}">
                <a16:creationId xmlns:a16="http://schemas.microsoft.com/office/drawing/2014/main" id="{7B0B33FB-BE2C-B453-9B66-7B077B47D543}"/>
              </a:ext>
            </a:extLst>
          </p:cNvPr>
          <p:cNvSpPr>
            <a:spLocks noGrp="1"/>
          </p:cNvSpPr>
          <p:nvPr>
            <p:ph type="sldNum" sz="quarter" idx="12"/>
          </p:nvPr>
        </p:nvSpPr>
        <p:spPr/>
        <p:txBody>
          <a:bodyPr/>
          <a:lstStyle/>
          <a:p>
            <a:fld id="{494A307A-1DDE-4068-8F8B-93AEF3FE836C}" type="slidenum">
              <a:rPr lang="he-IL" smtClean="0"/>
              <a:t>2</a:t>
            </a:fld>
            <a:endParaRPr lang="he-IL"/>
          </a:p>
        </p:txBody>
      </p:sp>
      <p:sp>
        <p:nvSpPr>
          <p:cNvPr id="5" name="Rectangle 4">
            <a:extLst>
              <a:ext uri="{FF2B5EF4-FFF2-40B4-BE49-F238E27FC236}">
                <a16:creationId xmlns:a16="http://schemas.microsoft.com/office/drawing/2014/main" id="{C2BC6D8B-93DD-8623-7A2A-6A2959422134}"/>
              </a:ext>
            </a:extLst>
          </p:cNvPr>
          <p:cNvSpPr/>
          <p:nvPr/>
        </p:nvSpPr>
        <p:spPr>
          <a:xfrm>
            <a:off x="552091" y="1004229"/>
            <a:ext cx="6014720" cy="154011"/>
          </a:xfrm>
          <a:prstGeom prst="rect">
            <a:avLst/>
          </a:prstGeom>
          <a:solidFill>
            <a:srgbClr val="FFCA28"/>
          </a:solidFill>
          <a:ln>
            <a:solidFill>
              <a:srgbClr val="FFC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8FCFE64-68D8-2259-9922-7F7E77EA78C1}"/>
              </a:ext>
            </a:extLst>
          </p:cNvPr>
          <p:cNvPicPr>
            <a:picLocks noChangeAspect="1"/>
          </p:cNvPicPr>
          <p:nvPr/>
        </p:nvPicPr>
        <p:blipFill>
          <a:blip r:embed="rId3"/>
          <a:stretch>
            <a:fillRect/>
          </a:stretch>
        </p:blipFill>
        <p:spPr>
          <a:xfrm>
            <a:off x="6626751" y="1892793"/>
            <a:ext cx="5013157" cy="3397806"/>
          </a:xfrm>
          <a:prstGeom prst="rect">
            <a:avLst/>
          </a:prstGeom>
        </p:spPr>
      </p:pic>
      <p:pic>
        <p:nvPicPr>
          <p:cNvPr id="9" name="Picture 8">
            <a:extLst>
              <a:ext uri="{FF2B5EF4-FFF2-40B4-BE49-F238E27FC236}">
                <a16:creationId xmlns:a16="http://schemas.microsoft.com/office/drawing/2014/main" id="{624514B3-508B-FAB6-3766-F2357C40660F}"/>
              </a:ext>
            </a:extLst>
          </p:cNvPr>
          <p:cNvPicPr>
            <a:picLocks noChangeAspect="1"/>
          </p:cNvPicPr>
          <p:nvPr/>
        </p:nvPicPr>
        <p:blipFill>
          <a:blip r:embed="rId4"/>
          <a:stretch>
            <a:fillRect/>
          </a:stretch>
        </p:blipFill>
        <p:spPr>
          <a:xfrm>
            <a:off x="6115888" y="1743846"/>
            <a:ext cx="5702300" cy="3695700"/>
          </a:xfrm>
          <a:prstGeom prst="rect">
            <a:avLst/>
          </a:prstGeom>
        </p:spPr>
      </p:pic>
      <p:sp>
        <p:nvSpPr>
          <p:cNvPr id="11" name="TextBox 10">
            <a:extLst>
              <a:ext uri="{FF2B5EF4-FFF2-40B4-BE49-F238E27FC236}">
                <a16:creationId xmlns:a16="http://schemas.microsoft.com/office/drawing/2014/main" id="{9DA521AB-D475-C75A-E1A9-5580B6FF77C4}"/>
              </a:ext>
            </a:extLst>
          </p:cNvPr>
          <p:cNvSpPr txBox="1"/>
          <p:nvPr/>
        </p:nvSpPr>
        <p:spPr>
          <a:xfrm>
            <a:off x="552090" y="6106015"/>
            <a:ext cx="10974163" cy="461665"/>
          </a:xfrm>
          <a:prstGeom prst="rect">
            <a:avLst/>
          </a:prstGeom>
          <a:noFill/>
        </p:spPr>
        <p:txBody>
          <a:bodyPr wrap="square">
            <a:spAutoFit/>
          </a:bodyPr>
          <a:lstStyle/>
          <a:p>
            <a:pPr algn="ctr" rtl="0">
              <a:buNone/>
            </a:pPr>
            <a:r>
              <a:rPr lang="en-US" sz="2400" i="1" dirty="0"/>
              <a:t> Free · Community · Flexibility · Innovation · Accessibility</a:t>
            </a:r>
          </a:p>
        </p:txBody>
      </p:sp>
    </p:spTree>
    <p:extLst>
      <p:ext uri="{BB962C8B-B14F-4D97-AF65-F5344CB8AC3E}">
        <p14:creationId xmlns:p14="http://schemas.microsoft.com/office/powerpoint/2010/main" val="2866072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CC724-1BBB-36D6-053C-FE846FCB27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2F138-08AC-F695-D024-7405A15B0B1B}"/>
              </a:ext>
            </a:extLst>
          </p:cNvPr>
          <p:cNvSpPr>
            <a:spLocks noGrp="1"/>
          </p:cNvSpPr>
          <p:nvPr>
            <p:ph type="title"/>
          </p:nvPr>
        </p:nvSpPr>
        <p:spPr/>
        <p:txBody>
          <a:bodyPr/>
          <a:lstStyle/>
          <a:p>
            <a:r>
              <a:rPr lang="en-US" dirty="0"/>
              <a:t>Adoption of Open-Source EDA</a:t>
            </a:r>
            <a:endParaRPr lang="en-US" dirty="0">
              <a:latin typeface="Times New Roman"/>
              <a:cs typeface="Times New Roman"/>
            </a:endParaRPr>
          </a:p>
        </p:txBody>
      </p:sp>
      <p:sp>
        <p:nvSpPr>
          <p:cNvPr id="3" name="Content Placeholder 2">
            <a:extLst>
              <a:ext uri="{FF2B5EF4-FFF2-40B4-BE49-F238E27FC236}">
                <a16:creationId xmlns:a16="http://schemas.microsoft.com/office/drawing/2014/main" id="{54F4A645-B2BB-C43F-2FD4-71B1730C2E2E}"/>
              </a:ext>
            </a:extLst>
          </p:cNvPr>
          <p:cNvSpPr>
            <a:spLocks noGrp="1"/>
          </p:cNvSpPr>
          <p:nvPr>
            <p:ph idx="1"/>
          </p:nvPr>
        </p:nvSpPr>
        <p:spPr>
          <a:xfrm>
            <a:off x="552092" y="1233793"/>
            <a:ext cx="7424845" cy="5118881"/>
          </a:xfrm>
        </p:spPr>
        <p:txBody>
          <a:bodyPr vert="horz" lIns="91440" tIns="45720" rIns="91440" bIns="45720" rtlCol="1" anchor="t">
            <a:noAutofit/>
          </a:bodyPr>
          <a:lstStyle/>
          <a:p>
            <a:r>
              <a:rPr lang="en-US" dirty="0">
                <a:cs typeface="Times New Roman"/>
              </a:rPr>
              <a:t>Governments are putting real money behind it. The CHIPS R&amp;D program and CHIPS Alliance alone represent $13B</a:t>
            </a:r>
          </a:p>
          <a:p>
            <a:r>
              <a:rPr lang="en-US" dirty="0">
                <a:cs typeface="Times New Roman"/>
              </a:rPr>
              <a:t>DARPA is backing it too, through the POSH and IDEA programs</a:t>
            </a:r>
          </a:p>
          <a:p>
            <a:r>
              <a:rPr lang="en-US" dirty="0">
                <a:cs typeface="Times New Roman"/>
              </a:rPr>
              <a:t>Community efforts are keeping pace. The </a:t>
            </a:r>
            <a:r>
              <a:rPr lang="en-US" dirty="0" err="1">
                <a:cs typeface="Times New Roman"/>
              </a:rPr>
              <a:t>OpenROAD</a:t>
            </a:r>
            <a:r>
              <a:rPr lang="en-US" dirty="0">
                <a:cs typeface="Times New Roman"/>
              </a:rPr>
              <a:t> Initiative has grown from a research project into ORFS and </a:t>
            </a:r>
            <a:r>
              <a:rPr lang="en-US" dirty="0" err="1">
                <a:cs typeface="Times New Roman"/>
              </a:rPr>
              <a:t>OpenLane</a:t>
            </a:r>
            <a:r>
              <a:rPr lang="en-US" dirty="0">
                <a:cs typeface="Times New Roman"/>
              </a:rPr>
              <a:t> EDA</a:t>
            </a:r>
          </a:p>
          <a:p>
            <a:r>
              <a:rPr lang="en-US" dirty="0">
                <a:cs typeface="Times New Roman"/>
              </a:rPr>
              <a:t>And it's already producing results. RISC-V and </a:t>
            </a:r>
            <a:r>
              <a:rPr lang="en-US" dirty="0" err="1">
                <a:cs typeface="Times New Roman"/>
              </a:rPr>
              <a:t>OpenTitan</a:t>
            </a:r>
            <a:r>
              <a:rPr lang="en-US" dirty="0">
                <a:cs typeface="Times New Roman"/>
              </a:rPr>
              <a:t> show open-source silicon can compete, not just participate</a:t>
            </a:r>
            <a:endParaRPr lang="en-US" dirty="0">
              <a:latin typeface="Times New Roman"/>
              <a:cs typeface="Times New Roman"/>
            </a:endParaRPr>
          </a:p>
        </p:txBody>
      </p:sp>
      <p:sp>
        <p:nvSpPr>
          <p:cNvPr id="4" name="Slide Number Placeholder 3">
            <a:extLst>
              <a:ext uri="{FF2B5EF4-FFF2-40B4-BE49-F238E27FC236}">
                <a16:creationId xmlns:a16="http://schemas.microsoft.com/office/drawing/2014/main" id="{EEE9B2C1-FDB5-2423-DC05-C31D57180557}"/>
              </a:ext>
            </a:extLst>
          </p:cNvPr>
          <p:cNvSpPr>
            <a:spLocks noGrp="1"/>
          </p:cNvSpPr>
          <p:nvPr>
            <p:ph type="sldNum" sz="quarter" idx="12"/>
          </p:nvPr>
        </p:nvSpPr>
        <p:spPr/>
        <p:txBody>
          <a:bodyPr/>
          <a:lstStyle/>
          <a:p>
            <a:fld id="{494A307A-1DDE-4068-8F8B-93AEF3FE836C}" type="slidenum">
              <a:rPr lang="he-IL" smtClean="0"/>
              <a:t>3</a:t>
            </a:fld>
            <a:endParaRPr lang="he-IL"/>
          </a:p>
        </p:txBody>
      </p:sp>
      <p:sp>
        <p:nvSpPr>
          <p:cNvPr id="5" name="Rectangle 4">
            <a:extLst>
              <a:ext uri="{FF2B5EF4-FFF2-40B4-BE49-F238E27FC236}">
                <a16:creationId xmlns:a16="http://schemas.microsoft.com/office/drawing/2014/main" id="{D5A74AB9-BAEC-F4A2-4DDB-04B158A1A7BD}"/>
              </a:ext>
            </a:extLst>
          </p:cNvPr>
          <p:cNvSpPr/>
          <p:nvPr/>
        </p:nvSpPr>
        <p:spPr>
          <a:xfrm>
            <a:off x="552091" y="1004229"/>
            <a:ext cx="6014720" cy="154011"/>
          </a:xfrm>
          <a:prstGeom prst="rect">
            <a:avLst/>
          </a:prstGeom>
          <a:solidFill>
            <a:srgbClr val="FFCA28"/>
          </a:solidFill>
          <a:ln>
            <a:solidFill>
              <a:srgbClr val="FFC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descr="CHIPS Alliance">
            <a:extLst>
              <a:ext uri="{FF2B5EF4-FFF2-40B4-BE49-F238E27FC236}">
                <a16:creationId xmlns:a16="http://schemas.microsoft.com/office/drawing/2014/main" id="{025378DD-B721-7931-E7FE-F0140A66613B}"/>
              </a:ext>
            </a:extLst>
          </p:cNvPr>
          <p:cNvPicPr>
            <a:picLocks noChangeAspect="1"/>
          </p:cNvPicPr>
          <p:nvPr/>
        </p:nvPicPr>
        <p:blipFill>
          <a:blip r:embed="rId3"/>
          <a:stretch>
            <a:fillRect/>
          </a:stretch>
        </p:blipFill>
        <p:spPr>
          <a:xfrm>
            <a:off x="8193505" y="1233793"/>
            <a:ext cx="2836110" cy="947819"/>
          </a:xfrm>
          <a:prstGeom prst="rect">
            <a:avLst/>
          </a:prstGeom>
        </p:spPr>
      </p:pic>
      <p:pic>
        <p:nvPicPr>
          <p:cNvPr id="18" name="Picture 17" descr="DARPA - Wikipedia">
            <a:extLst>
              <a:ext uri="{FF2B5EF4-FFF2-40B4-BE49-F238E27FC236}">
                <a16:creationId xmlns:a16="http://schemas.microsoft.com/office/drawing/2014/main" id="{0E5CB54F-1521-B613-A9DC-DF4FC1E4D7CB}"/>
              </a:ext>
            </a:extLst>
          </p:cNvPr>
          <p:cNvPicPr>
            <a:picLocks noChangeAspect="1"/>
          </p:cNvPicPr>
          <p:nvPr/>
        </p:nvPicPr>
        <p:blipFill>
          <a:blip r:embed="rId4"/>
          <a:stretch>
            <a:fillRect/>
          </a:stretch>
        </p:blipFill>
        <p:spPr>
          <a:xfrm>
            <a:off x="8343095" y="3284118"/>
            <a:ext cx="1892104" cy="1081202"/>
          </a:xfrm>
          <a:prstGeom prst="rect">
            <a:avLst/>
          </a:prstGeom>
        </p:spPr>
      </p:pic>
      <p:pic>
        <p:nvPicPr>
          <p:cNvPr id="19" name="Picture 18">
            <a:extLst>
              <a:ext uri="{FF2B5EF4-FFF2-40B4-BE49-F238E27FC236}">
                <a16:creationId xmlns:a16="http://schemas.microsoft.com/office/drawing/2014/main" id="{8C3D9F99-D0DB-3A3E-1C2C-5FAD71301D17}"/>
              </a:ext>
            </a:extLst>
          </p:cNvPr>
          <p:cNvPicPr>
            <a:picLocks noChangeAspect="1"/>
          </p:cNvPicPr>
          <p:nvPr/>
        </p:nvPicPr>
        <p:blipFill>
          <a:blip r:embed="rId5"/>
          <a:stretch>
            <a:fillRect/>
          </a:stretch>
        </p:blipFill>
        <p:spPr>
          <a:xfrm>
            <a:off x="10230688" y="4188352"/>
            <a:ext cx="1587500" cy="1244600"/>
          </a:xfrm>
          <a:prstGeom prst="rect">
            <a:avLst/>
          </a:prstGeom>
        </p:spPr>
      </p:pic>
      <p:pic>
        <p:nvPicPr>
          <p:cNvPr id="20" name="Picture 19">
            <a:extLst>
              <a:ext uri="{FF2B5EF4-FFF2-40B4-BE49-F238E27FC236}">
                <a16:creationId xmlns:a16="http://schemas.microsoft.com/office/drawing/2014/main" id="{9ADCB53B-413D-4FC0-DCC4-09D54D9B0612}"/>
              </a:ext>
            </a:extLst>
          </p:cNvPr>
          <p:cNvPicPr>
            <a:picLocks noChangeAspect="1"/>
          </p:cNvPicPr>
          <p:nvPr/>
        </p:nvPicPr>
        <p:blipFill>
          <a:blip r:embed="rId6"/>
          <a:stretch>
            <a:fillRect/>
          </a:stretch>
        </p:blipFill>
        <p:spPr>
          <a:xfrm>
            <a:off x="9743867" y="2494719"/>
            <a:ext cx="1807115" cy="574991"/>
          </a:xfrm>
          <a:prstGeom prst="rect">
            <a:avLst/>
          </a:prstGeom>
        </p:spPr>
      </p:pic>
      <p:pic>
        <p:nvPicPr>
          <p:cNvPr id="21" name="Picture 20" descr="Introduction - OpenTitan Documentation">
            <a:extLst>
              <a:ext uri="{FF2B5EF4-FFF2-40B4-BE49-F238E27FC236}">
                <a16:creationId xmlns:a16="http://schemas.microsoft.com/office/drawing/2014/main" id="{D7DA7152-D973-66C1-43EC-38218970777A}"/>
              </a:ext>
            </a:extLst>
          </p:cNvPr>
          <p:cNvPicPr>
            <a:picLocks noChangeAspect="1"/>
          </p:cNvPicPr>
          <p:nvPr/>
        </p:nvPicPr>
        <p:blipFill>
          <a:blip r:embed="rId7"/>
          <a:stretch>
            <a:fillRect/>
          </a:stretch>
        </p:blipFill>
        <p:spPr>
          <a:xfrm>
            <a:off x="7607428" y="5501219"/>
            <a:ext cx="3647908" cy="891430"/>
          </a:xfrm>
          <a:prstGeom prst="rect">
            <a:avLst/>
          </a:prstGeom>
        </p:spPr>
      </p:pic>
    </p:spTree>
    <p:extLst>
      <p:ext uri="{BB962C8B-B14F-4D97-AF65-F5344CB8AC3E}">
        <p14:creationId xmlns:p14="http://schemas.microsoft.com/office/powerpoint/2010/main" val="1516938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556E0-5E84-9E15-F73C-2578CFAA6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107C07-0D3F-CC13-492F-15B78033A6C2}"/>
              </a:ext>
            </a:extLst>
          </p:cNvPr>
          <p:cNvSpPr>
            <a:spLocks noGrp="1"/>
          </p:cNvSpPr>
          <p:nvPr>
            <p:ph type="title"/>
          </p:nvPr>
        </p:nvSpPr>
        <p:spPr/>
        <p:txBody>
          <a:bodyPr/>
          <a:lstStyle/>
          <a:p>
            <a:r>
              <a:rPr lang="en-US" dirty="0">
                <a:ea typeface="+mj-lt"/>
                <a:cs typeface="+mj-lt"/>
              </a:rPr>
              <a:t>Public Hardware Security Incidents</a:t>
            </a:r>
          </a:p>
        </p:txBody>
      </p:sp>
      <p:sp>
        <p:nvSpPr>
          <p:cNvPr id="4" name="Slide Number Placeholder 3">
            <a:extLst>
              <a:ext uri="{FF2B5EF4-FFF2-40B4-BE49-F238E27FC236}">
                <a16:creationId xmlns:a16="http://schemas.microsoft.com/office/drawing/2014/main" id="{17CCC378-E3E3-AA32-D733-831DF2AD481F}"/>
              </a:ext>
            </a:extLst>
          </p:cNvPr>
          <p:cNvSpPr>
            <a:spLocks noGrp="1"/>
          </p:cNvSpPr>
          <p:nvPr>
            <p:ph type="sldNum" sz="quarter" idx="12"/>
          </p:nvPr>
        </p:nvSpPr>
        <p:spPr/>
        <p:txBody>
          <a:bodyPr/>
          <a:lstStyle/>
          <a:p>
            <a:fld id="{494A307A-1DDE-4068-8F8B-93AEF3FE836C}" type="slidenum">
              <a:rPr lang="he-IL" smtClean="0"/>
              <a:t>4</a:t>
            </a:fld>
            <a:endParaRPr lang="he-IL" dirty="0"/>
          </a:p>
        </p:txBody>
      </p:sp>
      <p:sp>
        <p:nvSpPr>
          <p:cNvPr id="10" name="TextBox 5">
            <a:extLst>
              <a:ext uri="{FF2B5EF4-FFF2-40B4-BE49-F238E27FC236}">
                <a16:creationId xmlns:a16="http://schemas.microsoft.com/office/drawing/2014/main" id="{7733F7A0-F70C-AC6B-EB8C-1B089B913514}"/>
              </a:ext>
            </a:extLst>
          </p:cNvPr>
          <p:cNvSpPr txBox="1"/>
          <p:nvPr/>
        </p:nvSpPr>
        <p:spPr>
          <a:xfrm>
            <a:off x="408189" y="1196031"/>
            <a:ext cx="8449046" cy="5201424"/>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sz="2800" dirty="0">
                <a:ea typeface="+mn-lt"/>
                <a:cs typeface="Times New Roman"/>
              </a:rPr>
              <a:t>Speculation &amp; Side-Channel Leakage (</a:t>
            </a:r>
            <a:r>
              <a:rPr lang="en-US" sz="2800" dirty="0" err="1">
                <a:ea typeface="+mn-lt"/>
                <a:cs typeface="Times New Roman"/>
              </a:rPr>
              <a:t>Spectre</a:t>
            </a:r>
            <a:r>
              <a:rPr lang="en-US" sz="2800" dirty="0">
                <a:ea typeface="+mn-lt"/>
                <a:cs typeface="Times New Roman"/>
              </a:rPr>
              <a:t>) </a:t>
            </a:r>
          </a:p>
          <a:p>
            <a:pPr marL="742950" lvl="1" indent="-285750">
              <a:buFont typeface="Arial"/>
              <a:buChar char="•"/>
            </a:pPr>
            <a:r>
              <a:rPr lang="en-US" sz="2400" dirty="0">
                <a:ea typeface="+mn-lt"/>
                <a:cs typeface="Times New Roman"/>
              </a:rPr>
              <a:t>Architectural checks may still “pass,” while transient microarchitectural behavior leaks sensitive data.</a:t>
            </a:r>
            <a:endParaRPr lang="en-US" sz="2800" dirty="0">
              <a:ea typeface="+mn-lt"/>
              <a:cs typeface="Times New Roman"/>
            </a:endParaRPr>
          </a:p>
          <a:p>
            <a:pPr marL="285750" indent="-285750">
              <a:buFont typeface="Arial"/>
              <a:buChar char="•"/>
            </a:pPr>
            <a:r>
              <a:rPr lang="en-US" sz="2800" dirty="0">
                <a:ea typeface="+mn-lt"/>
                <a:cs typeface="Times New Roman"/>
              </a:rPr>
              <a:t>Cross-Boundary Isolation Failure (Foreshadow)  </a:t>
            </a:r>
          </a:p>
          <a:p>
            <a:pPr marL="742950" lvl="1" indent="-285750">
              <a:buFont typeface="Arial"/>
              <a:buChar char="•"/>
            </a:pPr>
            <a:r>
              <a:rPr lang="en-US" sz="2400" dirty="0">
                <a:ea typeface="+mn-lt"/>
                <a:cs typeface="Times New Roman"/>
              </a:rPr>
              <a:t>A single flaw can impact multiple trust domains, from OS and VMs to enclave-style protected contexts.</a:t>
            </a:r>
            <a:endParaRPr lang="en-US" sz="2800" dirty="0">
              <a:ea typeface="+mn-lt"/>
              <a:cs typeface="Times New Roman"/>
            </a:endParaRPr>
          </a:p>
          <a:p>
            <a:pPr marL="285750" indent="-285750">
              <a:buFont typeface="Arial"/>
              <a:buChar char="•"/>
            </a:pPr>
            <a:r>
              <a:rPr lang="en-US" sz="2800" dirty="0">
                <a:ea typeface="+mn-lt"/>
                <a:cs typeface="Times New Roman"/>
              </a:rPr>
              <a:t>Stale Internal State Exposure (</a:t>
            </a:r>
            <a:r>
              <a:rPr lang="en-US" sz="2800" dirty="0" err="1">
                <a:ea typeface="+mn-lt"/>
                <a:cs typeface="Times New Roman"/>
              </a:rPr>
              <a:t>ZombieLoad</a:t>
            </a:r>
            <a:r>
              <a:rPr lang="en-US" sz="2800" dirty="0">
                <a:ea typeface="+mn-lt"/>
                <a:cs typeface="Times New Roman"/>
              </a:rPr>
              <a:t>) </a:t>
            </a:r>
          </a:p>
          <a:p>
            <a:pPr marL="742950" lvl="1" indent="-285750">
              <a:buFont typeface="Arial"/>
              <a:buChar char="•"/>
            </a:pPr>
            <a:r>
              <a:rPr lang="en-US" sz="2400" dirty="0">
                <a:ea typeface="+mn-lt"/>
                <a:cs typeface="Times New Roman"/>
              </a:rPr>
              <a:t>Hidden microarchitectural buffers can unintentionally reveal leftover data across executions.</a:t>
            </a:r>
            <a:endParaRPr lang="en-US" sz="2800" dirty="0">
              <a:ea typeface="+mn-lt"/>
              <a:cs typeface="Times New Roman"/>
            </a:endParaRPr>
          </a:p>
          <a:p>
            <a:pPr marL="285750" indent="-285750">
              <a:buFont typeface="Arial"/>
              <a:buChar char="•"/>
            </a:pPr>
            <a:r>
              <a:rPr lang="en-US" sz="2800" dirty="0">
                <a:ea typeface="+mn-lt"/>
                <a:cs typeface="Times New Roman"/>
              </a:rPr>
              <a:t>Fault-Induced Security Breaks (</a:t>
            </a:r>
            <a:r>
              <a:rPr lang="en-US" sz="2800" dirty="0" err="1">
                <a:ea typeface="+mn-lt"/>
                <a:cs typeface="Times New Roman"/>
              </a:rPr>
              <a:t>Plundervolt</a:t>
            </a:r>
            <a:r>
              <a:rPr lang="en-US" sz="2800" dirty="0">
                <a:ea typeface="+mn-lt"/>
                <a:cs typeface="Times New Roman"/>
              </a:rPr>
              <a:t>) </a:t>
            </a:r>
          </a:p>
          <a:p>
            <a:pPr marL="742950" lvl="1" indent="-285750">
              <a:buFont typeface="Arial"/>
              <a:buChar char="•"/>
            </a:pPr>
            <a:r>
              <a:rPr lang="en-US" sz="2400" dirty="0">
                <a:ea typeface="+mn-lt"/>
                <a:cs typeface="Times New Roman"/>
              </a:rPr>
              <a:t>Trusted system controls (like voltage/frequency tuning) can be turned into an attack path.</a:t>
            </a:r>
            <a:endParaRPr lang="en-US" sz="2800" dirty="0">
              <a:ea typeface="+mn-lt"/>
              <a:cs typeface="Times New Roman"/>
            </a:endParaRPr>
          </a:p>
          <a:p>
            <a:pPr marL="285750" indent="-285750">
              <a:buFont typeface="Arial"/>
              <a:buChar char="•"/>
            </a:pPr>
            <a:r>
              <a:rPr lang="en-US" sz="2800" dirty="0">
                <a:ea typeface="+mn-lt"/>
                <a:cs typeface="Times New Roman"/>
              </a:rPr>
              <a:t>Variant Recurrence in Related Mechanisms (Downfall)</a:t>
            </a:r>
            <a:endParaRPr lang="en-US" sz="2800" dirty="0"/>
          </a:p>
        </p:txBody>
      </p:sp>
      <p:sp>
        <p:nvSpPr>
          <p:cNvPr id="11" name="Rectangle 10">
            <a:extLst>
              <a:ext uri="{FF2B5EF4-FFF2-40B4-BE49-F238E27FC236}">
                <a16:creationId xmlns:a16="http://schemas.microsoft.com/office/drawing/2014/main" id="{6B49B4CE-751B-F590-FD9A-26A041691FA6}"/>
              </a:ext>
            </a:extLst>
          </p:cNvPr>
          <p:cNvSpPr/>
          <p:nvPr/>
        </p:nvSpPr>
        <p:spPr>
          <a:xfrm>
            <a:off x="552091" y="1004229"/>
            <a:ext cx="6014720" cy="154011"/>
          </a:xfrm>
          <a:prstGeom prst="rect">
            <a:avLst/>
          </a:prstGeom>
          <a:solidFill>
            <a:srgbClr val="FFCA28"/>
          </a:solidFill>
          <a:ln>
            <a:solidFill>
              <a:srgbClr val="FFC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undefined">
            <a:extLst>
              <a:ext uri="{FF2B5EF4-FFF2-40B4-BE49-F238E27FC236}">
                <a16:creationId xmlns:a16="http://schemas.microsoft.com/office/drawing/2014/main" id="{2F2016AA-F602-4EBF-C56D-2B2CAEA7EE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3285" y="1459997"/>
            <a:ext cx="1226127" cy="145999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E34FE38-6303-4269-9806-ACD2F119C8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47577" y="2138498"/>
            <a:ext cx="1636234" cy="113803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Zombieland">
            <a:extLst>
              <a:ext uri="{FF2B5EF4-FFF2-40B4-BE49-F238E27FC236}">
                <a16:creationId xmlns:a16="http://schemas.microsoft.com/office/drawing/2014/main" id="{84B0A6AB-57BB-14FE-FD69-547055E1755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0408" t="17199" r="26797" b="12000"/>
          <a:stretch>
            <a:fillRect/>
          </a:stretch>
        </p:blipFill>
        <p:spPr bwMode="auto">
          <a:xfrm>
            <a:off x="8603285" y="3494052"/>
            <a:ext cx="1885280" cy="132556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blue and white logo&#10;&#10;AI-generated content may be incorrect.">
            <a:extLst>
              <a:ext uri="{FF2B5EF4-FFF2-40B4-BE49-F238E27FC236}">
                <a16:creationId xmlns:a16="http://schemas.microsoft.com/office/drawing/2014/main" id="{EBB81CE6-4209-2D3F-64C0-C76E8D3C977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33617" y="3994668"/>
            <a:ext cx="1250194" cy="1649896"/>
          </a:xfrm>
          <a:prstGeom prst="rect">
            <a:avLst/>
          </a:prstGeom>
        </p:spPr>
      </p:pic>
      <p:grpSp>
        <p:nvGrpSpPr>
          <p:cNvPr id="13" name="Group 12">
            <a:extLst>
              <a:ext uri="{FF2B5EF4-FFF2-40B4-BE49-F238E27FC236}">
                <a16:creationId xmlns:a16="http://schemas.microsoft.com/office/drawing/2014/main" id="{73FB6628-CE55-8526-E8F6-96C050B82590}"/>
              </a:ext>
            </a:extLst>
          </p:cNvPr>
          <p:cNvGrpSpPr/>
          <p:nvPr/>
        </p:nvGrpSpPr>
        <p:grpSpPr>
          <a:xfrm>
            <a:off x="8902287" y="4851955"/>
            <a:ext cx="1379133" cy="1685031"/>
            <a:chOff x="7997825" y="4851955"/>
            <a:chExt cx="1379133" cy="1685031"/>
          </a:xfrm>
        </p:grpSpPr>
        <p:pic>
          <p:nvPicPr>
            <p:cNvPr id="1038" name="Picture 14" descr="Intel Downfall, AKA GDS: Gather Data Sampling Vulnerability - PC Perspective">
              <a:extLst>
                <a:ext uri="{FF2B5EF4-FFF2-40B4-BE49-F238E27FC236}">
                  <a16:creationId xmlns:a16="http://schemas.microsoft.com/office/drawing/2014/main" id="{AACE5DC6-B3DF-63B0-A48A-D112F213F9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997825" y="4851955"/>
              <a:ext cx="1371600" cy="137160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546F248-F210-1D28-91E2-ED06A070ADEA}"/>
                </a:ext>
              </a:extLst>
            </p:cNvPr>
            <p:cNvSpPr txBox="1"/>
            <p:nvPr/>
          </p:nvSpPr>
          <p:spPr>
            <a:xfrm>
              <a:off x="8005358" y="6167654"/>
              <a:ext cx="1371600" cy="369332"/>
            </a:xfrm>
            <a:prstGeom prst="rect">
              <a:avLst/>
            </a:prstGeom>
            <a:noFill/>
          </p:spPr>
          <p:txBody>
            <a:bodyPr wrap="square" rtlCol="0">
              <a:spAutoFit/>
            </a:bodyPr>
            <a:lstStyle/>
            <a:p>
              <a:pPr algn="ctr" rtl="0"/>
              <a:r>
                <a:rPr lang="en-US" dirty="0">
                  <a:latin typeface="Lucida Fax" panose="02060602050505020204" pitchFamily="18" charset="77"/>
                </a:rPr>
                <a:t>Downfall</a:t>
              </a:r>
            </a:p>
          </p:txBody>
        </p:sp>
      </p:grpSp>
    </p:spTree>
    <p:extLst>
      <p:ext uri="{BB962C8B-B14F-4D97-AF65-F5344CB8AC3E}">
        <p14:creationId xmlns:p14="http://schemas.microsoft.com/office/powerpoint/2010/main" val="541232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FCA17-D9DB-FBCB-B27F-2E5EAB54B2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8A6EE9-2F94-9456-0802-AD656774B834}"/>
              </a:ext>
            </a:extLst>
          </p:cNvPr>
          <p:cNvSpPr>
            <a:spLocks noGrp="1"/>
          </p:cNvSpPr>
          <p:nvPr>
            <p:ph type="title"/>
          </p:nvPr>
        </p:nvSpPr>
        <p:spPr/>
        <p:txBody>
          <a:bodyPr/>
          <a:lstStyle/>
          <a:p>
            <a:r>
              <a:rPr lang="en-US" dirty="0"/>
              <a:t>Impact of a Security Breach</a:t>
            </a:r>
          </a:p>
        </p:txBody>
      </p:sp>
      <p:sp>
        <p:nvSpPr>
          <p:cNvPr id="4" name="Slide Number Placeholder 3">
            <a:extLst>
              <a:ext uri="{FF2B5EF4-FFF2-40B4-BE49-F238E27FC236}">
                <a16:creationId xmlns:a16="http://schemas.microsoft.com/office/drawing/2014/main" id="{2ECF5ACC-1C77-7D95-7BF8-1FB147C86A12}"/>
              </a:ext>
            </a:extLst>
          </p:cNvPr>
          <p:cNvSpPr>
            <a:spLocks noGrp="1"/>
          </p:cNvSpPr>
          <p:nvPr>
            <p:ph type="sldNum" sz="quarter" idx="12"/>
          </p:nvPr>
        </p:nvSpPr>
        <p:spPr/>
        <p:txBody>
          <a:bodyPr/>
          <a:lstStyle/>
          <a:p>
            <a:fld id="{494A307A-1DDE-4068-8F8B-93AEF3FE836C}" type="slidenum">
              <a:rPr lang="he-IL" smtClean="0"/>
              <a:t>5</a:t>
            </a:fld>
            <a:endParaRPr lang="he-IL" dirty="0"/>
          </a:p>
        </p:txBody>
      </p:sp>
      <p:sp>
        <p:nvSpPr>
          <p:cNvPr id="10" name="TextBox 5">
            <a:extLst>
              <a:ext uri="{FF2B5EF4-FFF2-40B4-BE49-F238E27FC236}">
                <a16:creationId xmlns:a16="http://schemas.microsoft.com/office/drawing/2014/main" id="{353FE053-DBEF-3A34-29F5-276E87396172}"/>
              </a:ext>
            </a:extLst>
          </p:cNvPr>
          <p:cNvSpPr txBox="1"/>
          <p:nvPr/>
        </p:nvSpPr>
        <p:spPr>
          <a:xfrm>
            <a:off x="373811" y="1162111"/>
            <a:ext cx="9540209" cy="224676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sz="2800" dirty="0">
                <a:ea typeface="+mn-lt"/>
                <a:cs typeface="Times New Roman"/>
              </a:rPr>
              <a:t>The global average breach now costs $4.4M</a:t>
            </a:r>
          </a:p>
          <a:p>
            <a:pPr marL="285750" indent="-285750">
              <a:buFont typeface="Arial"/>
              <a:buChar char="•"/>
            </a:pPr>
            <a:r>
              <a:rPr lang="en-US" sz="2800" dirty="0">
                <a:ea typeface="+mn-lt"/>
                <a:cs typeface="Times New Roman"/>
              </a:rPr>
              <a:t>Breaches take 241 days on average to detect and contain</a:t>
            </a:r>
          </a:p>
          <a:p>
            <a:pPr marL="285750" indent="-285750">
              <a:buFont typeface="Arial"/>
              <a:buChar char="•"/>
            </a:pPr>
            <a:r>
              <a:rPr lang="en-US" sz="2800" dirty="0">
                <a:ea typeface="+mn-lt"/>
                <a:cs typeface="Times New Roman"/>
              </a:rPr>
              <a:t>The US has the highest cost of any country, an all-time high</a:t>
            </a:r>
          </a:p>
          <a:p>
            <a:pPr marL="285750" indent="-285750">
              <a:buFont typeface="Arial"/>
              <a:buChar char="•"/>
            </a:pPr>
            <a:r>
              <a:rPr lang="en-US" sz="2800" dirty="0">
                <a:ea typeface="+mn-lt"/>
                <a:cs typeface="Times New Roman"/>
              </a:rPr>
              <a:t>Third-party breaches have doubled</a:t>
            </a:r>
          </a:p>
          <a:p>
            <a:pPr marL="285750" indent="-285750">
              <a:buFont typeface="Arial"/>
              <a:buChar char="•"/>
            </a:pPr>
            <a:r>
              <a:rPr lang="en-US" sz="2800" dirty="0">
                <a:ea typeface="+mn-lt"/>
                <a:cs typeface="Times New Roman"/>
              </a:rPr>
              <a:t>Healthcare is the most targeted sector</a:t>
            </a:r>
            <a:endParaRPr lang="en-US" sz="2800" dirty="0"/>
          </a:p>
        </p:txBody>
      </p:sp>
      <p:sp>
        <p:nvSpPr>
          <p:cNvPr id="11" name="Rectangle 10">
            <a:extLst>
              <a:ext uri="{FF2B5EF4-FFF2-40B4-BE49-F238E27FC236}">
                <a16:creationId xmlns:a16="http://schemas.microsoft.com/office/drawing/2014/main" id="{96CE6030-E7E2-4435-FA76-1A4AEB8A71A3}"/>
              </a:ext>
            </a:extLst>
          </p:cNvPr>
          <p:cNvSpPr/>
          <p:nvPr/>
        </p:nvSpPr>
        <p:spPr>
          <a:xfrm>
            <a:off x="552091" y="1004229"/>
            <a:ext cx="6014720" cy="154011"/>
          </a:xfrm>
          <a:prstGeom prst="rect">
            <a:avLst/>
          </a:prstGeom>
          <a:solidFill>
            <a:srgbClr val="FFCA28"/>
          </a:solidFill>
          <a:ln>
            <a:solidFill>
              <a:srgbClr val="FFC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E536BB45-79A1-3750-690A-A37568C2AD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2808" y="3729163"/>
            <a:ext cx="5104789" cy="2723289"/>
          </a:xfrm>
          <a:prstGeom prst="rect">
            <a:avLst/>
          </a:prstGeom>
        </p:spPr>
      </p:pic>
      <p:pic>
        <p:nvPicPr>
          <p:cNvPr id="17" name="Picture 16">
            <a:extLst>
              <a:ext uri="{FF2B5EF4-FFF2-40B4-BE49-F238E27FC236}">
                <a16:creationId xmlns:a16="http://schemas.microsoft.com/office/drawing/2014/main" id="{B8D89086-AD14-CB96-D593-676E25C186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4403" y="3348720"/>
            <a:ext cx="4882337" cy="3363856"/>
          </a:xfrm>
          <a:prstGeom prst="rect">
            <a:avLst/>
          </a:prstGeom>
        </p:spPr>
      </p:pic>
      <p:pic>
        <p:nvPicPr>
          <p:cNvPr id="19" name="Picture 18">
            <a:extLst>
              <a:ext uri="{FF2B5EF4-FFF2-40B4-BE49-F238E27FC236}">
                <a16:creationId xmlns:a16="http://schemas.microsoft.com/office/drawing/2014/main" id="{A7BC5CC2-4DC8-3D0C-035A-6B1AC302D2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76347" y="670786"/>
            <a:ext cx="2898235" cy="2898235"/>
          </a:xfrm>
          <a:prstGeom prst="rect">
            <a:avLst/>
          </a:prstGeom>
        </p:spPr>
      </p:pic>
    </p:spTree>
    <p:extLst>
      <p:ext uri="{BB962C8B-B14F-4D97-AF65-F5344CB8AC3E}">
        <p14:creationId xmlns:p14="http://schemas.microsoft.com/office/powerpoint/2010/main" val="711017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4A4CF-91AB-1B64-6068-9B551D452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90C88-11FD-215B-00AE-E63E3F9C56DB}"/>
              </a:ext>
            </a:extLst>
          </p:cNvPr>
          <p:cNvSpPr>
            <a:spLocks noGrp="1"/>
          </p:cNvSpPr>
          <p:nvPr>
            <p:ph type="title"/>
          </p:nvPr>
        </p:nvSpPr>
        <p:spPr/>
        <p:txBody>
          <a:bodyPr/>
          <a:lstStyle/>
          <a:p>
            <a:r>
              <a:rPr lang="en-US" dirty="0"/>
              <a:t>Quantifying Security Analysis</a:t>
            </a:r>
          </a:p>
        </p:txBody>
      </p:sp>
      <p:sp>
        <p:nvSpPr>
          <p:cNvPr id="4" name="Slide Number Placeholder 3">
            <a:extLst>
              <a:ext uri="{FF2B5EF4-FFF2-40B4-BE49-F238E27FC236}">
                <a16:creationId xmlns:a16="http://schemas.microsoft.com/office/drawing/2014/main" id="{6149624E-02F2-65C5-9052-CE16FD1539B8}"/>
              </a:ext>
            </a:extLst>
          </p:cNvPr>
          <p:cNvSpPr>
            <a:spLocks noGrp="1"/>
          </p:cNvSpPr>
          <p:nvPr>
            <p:ph type="sldNum" sz="quarter" idx="12"/>
          </p:nvPr>
        </p:nvSpPr>
        <p:spPr/>
        <p:txBody>
          <a:bodyPr/>
          <a:lstStyle/>
          <a:p>
            <a:fld id="{494A307A-1DDE-4068-8F8B-93AEF3FE836C}" type="slidenum">
              <a:rPr lang="he-IL" smtClean="0"/>
              <a:t>6</a:t>
            </a:fld>
            <a:endParaRPr lang="he-IL" dirty="0"/>
          </a:p>
        </p:txBody>
      </p:sp>
      <p:sp>
        <p:nvSpPr>
          <p:cNvPr id="10" name="TextBox 5">
            <a:extLst>
              <a:ext uri="{FF2B5EF4-FFF2-40B4-BE49-F238E27FC236}">
                <a16:creationId xmlns:a16="http://schemas.microsoft.com/office/drawing/2014/main" id="{F9041C80-23CA-72E9-D8AD-9E6A614EDD58}"/>
              </a:ext>
            </a:extLst>
          </p:cNvPr>
          <p:cNvSpPr txBox="1"/>
          <p:nvPr/>
        </p:nvSpPr>
        <p:spPr>
          <a:xfrm>
            <a:off x="373811" y="1162111"/>
            <a:ext cx="11667125" cy="181588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sz="2800" dirty="0">
                <a:ea typeface="+mn-lt"/>
                <a:cs typeface="Times New Roman"/>
              </a:rPr>
              <a:t>Hardware security needs the same rigor as functional verification: assurance, not assumption</a:t>
            </a:r>
          </a:p>
          <a:p>
            <a:pPr marL="285750" indent="-285750">
              <a:buFont typeface="Arial"/>
              <a:buChar char="•"/>
            </a:pPr>
            <a:r>
              <a:rPr lang="en-US" sz="2800" dirty="0">
                <a:ea typeface="+mn-lt"/>
                <a:cs typeface="Times New Roman"/>
              </a:rPr>
              <a:t>Security metrics let us verify coverage, discover residual risk, and enable countermeasures across different attack types</a:t>
            </a:r>
            <a:endParaRPr lang="en-US" sz="2800" dirty="0"/>
          </a:p>
        </p:txBody>
      </p:sp>
      <p:sp>
        <p:nvSpPr>
          <p:cNvPr id="11" name="Rectangle 10">
            <a:extLst>
              <a:ext uri="{FF2B5EF4-FFF2-40B4-BE49-F238E27FC236}">
                <a16:creationId xmlns:a16="http://schemas.microsoft.com/office/drawing/2014/main" id="{52F391CB-32CB-E0BB-25E1-46C0FEC3BEA2}"/>
              </a:ext>
            </a:extLst>
          </p:cNvPr>
          <p:cNvSpPr/>
          <p:nvPr/>
        </p:nvSpPr>
        <p:spPr>
          <a:xfrm>
            <a:off x="552091" y="1004229"/>
            <a:ext cx="6014720" cy="154011"/>
          </a:xfrm>
          <a:prstGeom prst="rect">
            <a:avLst/>
          </a:prstGeom>
          <a:solidFill>
            <a:srgbClr val="FFCA28"/>
          </a:solidFill>
          <a:ln>
            <a:solidFill>
              <a:srgbClr val="FFC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93390187-AED8-D091-415F-BE57AC4E3EBE}"/>
              </a:ext>
            </a:extLst>
          </p:cNvPr>
          <p:cNvPicPr>
            <a:picLocks noChangeAspect="1"/>
          </p:cNvPicPr>
          <p:nvPr/>
        </p:nvPicPr>
        <p:blipFill>
          <a:blip r:embed="rId3"/>
          <a:stretch>
            <a:fillRect/>
          </a:stretch>
        </p:blipFill>
        <p:spPr>
          <a:xfrm>
            <a:off x="2353718" y="2953929"/>
            <a:ext cx="7484564" cy="3612894"/>
          </a:xfrm>
          <a:prstGeom prst="rect">
            <a:avLst/>
          </a:prstGeom>
        </p:spPr>
      </p:pic>
    </p:spTree>
    <p:extLst>
      <p:ext uri="{BB962C8B-B14F-4D97-AF65-F5344CB8AC3E}">
        <p14:creationId xmlns:p14="http://schemas.microsoft.com/office/powerpoint/2010/main" val="2390449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2BFCC-E369-A5A1-49EB-C2ABE5FFF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C486C2-A28A-75A0-33D3-6BDE0FFE5822}"/>
              </a:ext>
            </a:extLst>
          </p:cNvPr>
          <p:cNvSpPr>
            <a:spLocks noGrp="1"/>
          </p:cNvSpPr>
          <p:nvPr>
            <p:ph type="title"/>
          </p:nvPr>
        </p:nvSpPr>
        <p:spPr/>
        <p:txBody>
          <a:bodyPr/>
          <a:lstStyle/>
          <a:p>
            <a:r>
              <a:rPr lang="en-US" dirty="0"/>
              <a:t>Rising Vulnerabilities vs. Human Bandwidth</a:t>
            </a:r>
            <a:endParaRPr lang="en-US" dirty="0">
              <a:ea typeface="+mj-lt"/>
              <a:cs typeface="+mj-lt"/>
            </a:endParaRPr>
          </a:p>
        </p:txBody>
      </p:sp>
      <p:sp>
        <p:nvSpPr>
          <p:cNvPr id="4" name="Slide Number Placeholder 3">
            <a:extLst>
              <a:ext uri="{FF2B5EF4-FFF2-40B4-BE49-F238E27FC236}">
                <a16:creationId xmlns:a16="http://schemas.microsoft.com/office/drawing/2014/main" id="{D2D303DF-49C5-7B70-4512-314F0FF32E6D}"/>
              </a:ext>
            </a:extLst>
          </p:cNvPr>
          <p:cNvSpPr>
            <a:spLocks noGrp="1"/>
          </p:cNvSpPr>
          <p:nvPr>
            <p:ph type="sldNum" sz="quarter" idx="12"/>
          </p:nvPr>
        </p:nvSpPr>
        <p:spPr/>
        <p:txBody>
          <a:bodyPr/>
          <a:lstStyle/>
          <a:p>
            <a:fld id="{494A307A-1DDE-4068-8F8B-93AEF3FE836C}" type="slidenum">
              <a:rPr lang="he-IL" smtClean="0"/>
              <a:t>7</a:t>
            </a:fld>
            <a:endParaRPr lang="he-IL" dirty="0"/>
          </a:p>
        </p:txBody>
      </p:sp>
      <p:sp>
        <p:nvSpPr>
          <p:cNvPr id="11" name="Rectangle 10">
            <a:extLst>
              <a:ext uri="{FF2B5EF4-FFF2-40B4-BE49-F238E27FC236}">
                <a16:creationId xmlns:a16="http://schemas.microsoft.com/office/drawing/2014/main" id="{3255374B-C979-9927-6D6E-D5EC9E6C65DD}"/>
              </a:ext>
            </a:extLst>
          </p:cNvPr>
          <p:cNvSpPr/>
          <p:nvPr/>
        </p:nvSpPr>
        <p:spPr>
          <a:xfrm>
            <a:off x="552091" y="1004229"/>
            <a:ext cx="6014720" cy="154011"/>
          </a:xfrm>
          <a:prstGeom prst="rect">
            <a:avLst/>
          </a:prstGeom>
          <a:solidFill>
            <a:srgbClr val="FFCA28"/>
          </a:solidFill>
          <a:ln>
            <a:solidFill>
              <a:srgbClr val="FFC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F1E68DD-440F-BB4E-A4FE-B85C26CBE811}"/>
              </a:ext>
            </a:extLst>
          </p:cNvPr>
          <p:cNvPicPr>
            <a:picLocks noChangeAspect="1"/>
          </p:cNvPicPr>
          <p:nvPr/>
        </p:nvPicPr>
        <p:blipFill>
          <a:blip r:embed="rId3"/>
          <a:srcRect r="50814"/>
          <a:stretch>
            <a:fillRect/>
          </a:stretch>
        </p:blipFill>
        <p:spPr>
          <a:xfrm>
            <a:off x="7410102" y="1604316"/>
            <a:ext cx="4408086" cy="3649368"/>
          </a:xfrm>
          <a:prstGeom prst="rect">
            <a:avLst/>
          </a:prstGeom>
        </p:spPr>
      </p:pic>
      <p:sp>
        <p:nvSpPr>
          <p:cNvPr id="7" name="TextBox 5">
            <a:extLst>
              <a:ext uri="{FF2B5EF4-FFF2-40B4-BE49-F238E27FC236}">
                <a16:creationId xmlns:a16="http://schemas.microsoft.com/office/drawing/2014/main" id="{DA0DB214-7838-9D2C-592A-9A21621F7EE3}"/>
              </a:ext>
            </a:extLst>
          </p:cNvPr>
          <p:cNvSpPr txBox="1"/>
          <p:nvPr/>
        </p:nvSpPr>
        <p:spPr>
          <a:xfrm>
            <a:off x="194156" y="1459997"/>
            <a:ext cx="7627940" cy="489364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sz="2800" dirty="0">
                <a:ea typeface="+mn-lt"/>
                <a:cs typeface="Times New Roman"/>
              </a:rPr>
              <a:t>Modern SoCs are growing in complexity, heterogeneity, and integration speed.</a:t>
            </a:r>
          </a:p>
          <a:p>
            <a:pPr marL="742950" lvl="1" indent="-285750">
              <a:buFont typeface="Arial"/>
              <a:buChar char="•"/>
            </a:pPr>
            <a:r>
              <a:rPr lang="en-US" sz="2400" dirty="0">
                <a:ea typeface="+mn-lt"/>
                <a:cs typeface="Times New Roman"/>
              </a:rPr>
              <a:t>More IPs, more interfaces, more privilege modes, more corner cases.</a:t>
            </a:r>
          </a:p>
          <a:p>
            <a:pPr marL="285750" indent="-285750">
              <a:buFont typeface="Arial"/>
              <a:buChar char="•"/>
            </a:pPr>
            <a:r>
              <a:rPr lang="en-US" sz="2800" dirty="0">
                <a:ea typeface="+mn-lt"/>
                <a:cs typeface="Times New Roman"/>
              </a:rPr>
              <a:t>Security risk is expanding faster than teams can manually review and verify.</a:t>
            </a:r>
          </a:p>
          <a:p>
            <a:pPr marL="742950" lvl="1" indent="-285750">
              <a:buFont typeface="Arial"/>
              <a:buChar char="•"/>
            </a:pPr>
            <a:r>
              <a:rPr lang="en-US" sz="2400" dirty="0">
                <a:ea typeface="+mn-lt"/>
                <a:cs typeface="Times New Roman"/>
              </a:rPr>
              <a:t>Threat analysis, property writing, and cross-module reasoning do not scale easily.</a:t>
            </a:r>
          </a:p>
          <a:p>
            <a:pPr marL="285750" indent="-285750">
              <a:buFont typeface="Arial"/>
              <a:buChar char="•"/>
            </a:pPr>
            <a:r>
              <a:rPr lang="en-US" sz="2800" dirty="0">
                <a:ea typeface="+mn-lt"/>
                <a:cs typeface="Times New Roman"/>
              </a:rPr>
              <a:t>In a fast-moving market, human expertise is essential but no longer sufficient alone.</a:t>
            </a:r>
          </a:p>
          <a:p>
            <a:pPr marL="742950" lvl="1" indent="-285750">
              <a:buFont typeface="Arial"/>
              <a:buChar char="•"/>
            </a:pPr>
            <a:r>
              <a:rPr lang="en-US" sz="2400" dirty="0">
                <a:ea typeface="+mn-lt"/>
                <a:cs typeface="Times New Roman"/>
              </a:rPr>
              <a:t>We need workflows that amplify expert effort, not replace it.</a:t>
            </a:r>
          </a:p>
        </p:txBody>
      </p:sp>
      <p:sp>
        <p:nvSpPr>
          <p:cNvPr id="15" name="TextBox 14">
            <a:extLst>
              <a:ext uri="{FF2B5EF4-FFF2-40B4-BE49-F238E27FC236}">
                <a16:creationId xmlns:a16="http://schemas.microsoft.com/office/drawing/2014/main" id="{045194DA-5B8E-754A-7CBD-60BC7D2F4D14}"/>
              </a:ext>
            </a:extLst>
          </p:cNvPr>
          <p:cNvSpPr txBox="1"/>
          <p:nvPr/>
        </p:nvSpPr>
        <p:spPr>
          <a:xfrm>
            <a:off x="8035411" y="5253684"/>
            <a:ext cx="3569461" cy="923330"/>
          </a:xfrm>
          <a:prstGeom prst="rect">
            <a:avLst/>
          </a:prstGeom>
          <a:noFill/>
        </p:spPr>
        <p:txBody>
          <a:bodyPr wrap="square">
            <a:spAutoFit/>
          </a:bodyPr>
          <a:lstStyle/>
          <a:p>
            <a:pPr algn="ctr"/>
            <a:r>
              <a:rPr lang="en-US" i="1" dirty="0"/>
              <a:t>Based on publicly reported SoC growth and hardware vulnerability incident trends (NIST/MITRE)</a:t>
            </a:r>
          </a:p>
        </p:txBody>
      </p:sp>
    </p:spTree>
    <p:extLst>
      <p:ext uri="{BB962C8B-B14F-4D97-AF65-F5344CB8AC3E}">
        <p14:creationId xmlns:p14="http://schemas.microsoft.com/office/powerpoint/2010/main" val="41265396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93853-ED9A-7F92-7C7A-E672470EE3BD}"/>
              </a:ext>
            </a:extLst>
          </p:cNvPr>
          <p:cNvSpPr>
            <a:spLocks noGrp="1"/>
          </p:cNvSpPr>
          <p:nvPr>
            <p:ph type="title"/>
          </p:nvPr>
        </p:nvSpPr>
        <p:spPr/>
        <p:txBody>
          <a:bodyPr/>
          <a:lstStyle/>
          <a:p>
            <a:r>
              <a:rPr lang="en-US" dirty="0">
                <a:ea typeface="+mj-lt"/>
                <a:cs typeface="+mj-lt"/>
              </a:rPr>
              <a:t>Countermeasure Feasibility</a:t>
            </a:r>
          </a:p>
        </p:txBody>
      </p:sp>
      <p:sp>
        <p:nvSpPr>
          <p:cNvPr id="4" name="Slide Number Placeholder 3">
            <a:extLst>
              <a:ext uri="{FF2B5EF4-FFF2-40B4-BE49-F238E27FC236}">
                <a16:creationId xmlns:a16="http://schemas.microsoft.com/office/drawing/2014/main" id="{9690FCD3-9A06-BD75-F142-BF0F656D7795}"/>
              </a:ext>
            </a:extLst>
          </p:cNvPr>
          <p:cNvSpPr>
            <a:spLocks noGrp="1"/>
          </p:cNvSpPr>
          <p:nvPr>
            <p:ph type="sldNum" sz="quarter" idx="12"/>
          </p:nvPr>
        </p:nvSpPr>
        <p:spPr/>
        <p:txBody>
          <a:bodyPr/>
          <a:lstStyle/>
          <a:p>
            <a:fld id="{494A307A-1DDE-4068-8F8B-93AEF3FE836C}" type="slidenum">
              <a:rPr lang="he-IL" smtClean="0"/>
              <a:t>8</a:t>
            </a:fld>
            <a:endParaRPr lang="he-IL" dirty="0"/>
          </a:p>
        </p:txBody>
      </p:sp>
      <p:sp>
        <p:nvSpPr>
          <p:cNvPr id="10" name="TextBox 5">
            <a:extLst>
              <a:ext uri="{FF2B5EF4-FFF2-40B4-BE49-F238E27FC236}">
                <a16:creationId xmlns:a16="http://schemas.microsoft.com/office/drawing/2014/main" id="{454FDF51-A213-BC8C-E59F-E04FFA34F3B3}"/>
              </a:ext>
            </a:extLst>
          </p:cNvPr>
          <p:cNvSpPr txBox="1"/>
          <p:nvPr/>
        </p:nvSpPr>
        <p:spPr>
          <a:xfrm>
            <a:off x="194156" y="1459997"/>
            <a:ext cx="4999599" cy="3970318"/>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buFont typeface="Arial"/>
              <a:buChar char="•"/>
            </a:pPr>
            <a:r>
              <a:rPr lang="en-US" sz="2800" dirty="0">
                <a:ea typeface="+mn-lt"/>
                <a:cs typeface="Times New Roman"/>
              </a:rPr>
              <a:t>Security vs. design constraints trade-off</a:t>
            </a:r>
          </a:p>
          <a:p>
            <a:pPr marL="285750" indent="-285750">
              <a:buFont typeface="Arial"/>
              <a:buChar char="•"/>
            </a:pPr>
            <a:r>
              <a:rPr lang="en-US" sz="2800" dirty="0">
                <a:ea typeface="+mn-lt"/>
                <a:cs typeface="Times New Roman"/>
              </a:rPr>
              <a:t>Coherence between countermeasures</a:t>
            </a:r>
          </a:p>
          <a:p>
            <a:pPr marL="285750" indent="-285750">
              <a:buFont typeface="Arial"/>
              <a:buChar char="•"/>
            </a:pPr>
            <a:r>
              <a:rPr lang="en-US" sz="2800" dirty="0">
                <a:ea typeface="+mn-lt"/>
                <a:cs typeface="Times New Roman"/>
              </a:rPr>
              <a:t>Successful threat mitigation</a:t>
            </a:r>
          </a:p>
          <a:p>
            <a:pPr marL="285750" indent="-285750">
              <a:buFont typeface="Arial"/>
              <a:buChar char="•"/>
            </a:pPr>
            <a:r>
              <a:rPr lang="en-US" sz="2800" dirty="0">
                <a:ea typeface="+mn-lt"/>
                <a:cs typeface="Times New Roman"/>
              </a:rPr>
              <a:t>Post-insertion functionality equivalence</a:t>
            </a:r>
          </a:p>
          <a:p>
            <a:pPr marL="285750" indent="-285750">
              <a:buFont typeface="Arial"/>
              <a:buChar char="•"/>
            </a:pPr>
            <a:r>
              <a:rPr lang="en-US" sz="2800" dirty="0">
                <a:ea typeface="+mn-lt"/>
                <a:cs typeface="Times New Roman"/>
              </a:rPr>
              <a:t>No PPA overhead violation</a:t>
            </a:r>
          </a:p>
          <a:p>
            <a:pPr marL="285750" indent="-285750">
              <a:buFont typeface="Arial"/>
              <a:buChar char="•"/>
            </a:pPr>
            <a:r>
              <a:rPr lang="en-US" sz="2800" dirty="0">
                <a:ea typeface="+mn-lt"/>
                <a:cs typeface="Times New Roman"/>
              </a:rPr>
              <a:t>Scalability to emerging threats</a:t>
            </a:r>
            <a:endParaRPr lang="en-US" sz="2800" dirty="0"/>
          </a:p>
        </p:txBody>
      </p:sp>
      <p:sp>
        <p:nvSpPr>
          <p:cNvPr id="11" name="Rectangle 10">
            <a:extLst>
              <a:ext uri="{FF2B5EF4-FFF2-40B4-BE49-F238E27FC236}">
                <a16:creationId xmlns:a16="http://schemas.microsoft.com/office/drawing/2014/main" id="{08A713FA-61FC-FCC5-B90D-046284577B5B}"/>
              </a:ext>
            </a:extLst>
          </p:cNvPr>
          <p:cNvSpPr/>
          <p:nvPr/>
        </p:nvSpPr>
        <p:spPr>
          <a:xfrm>
            <a:off x="552091" y="1004229"/>
            <a:ext cx="6014720" cy="154011"/>
          </a:xfrm>
          <a:prstGeom prst="rect">
            <a:avLst/>
          </a:prstGeom>
          <a:solidFill>
            <a:srgbClr val="FFCA28"/>
          </a:solidFill>
          <a:ln>
            <a:solidFill>
              <a:srgbClr val="FFC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3400C5B-16D3-9A55-6863-F8BDCDDF2D64}"/>
              </a:ext>
            </a:extLst>
          </p:cNvPr>
          <p:cNvPicPr>
            <a:picLocks noChangeAspect="1"/>
          </p:cNvPicPr>
          <p:nvPr/>
        </p:nvPicPr>
        <p:blipFill>
          <a:blip r:embed="rId3"/>
          <a:srcRect l="2686" t="5839" r="3196" b="4165"/>
          <a:stretch>
            <a:fillRect/>
          </a:stretch>
        </p:blipFill>
        <p:spPr>
          <a:xfrm>
            <a:off x="4935638" y="1908312"/>
            <a:ext cx="7139197" cy="3220279"/>
          </a:xfrm>
          <a:prstGeom prst="rect">
            <a:avLst/>
          </a:prstGeom>
        </p:spPr>
      </p:pic>
    </p:spTree>
    <p:extLst>
      <p:ext uri="{BB962C8B-B14F-4D97-AF65-F5344CB8AC3E}">
        <p14:creationId xmlns:p14="http://schemas.microsoft.com/office/powerpoint/2010/main" val="3503712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1C27B-5462-D60B-C368-A7DB679E3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1CBF8-06A2-1F31-5DD7-BB46DD2BB2D9}"/>
              </a:ext>
            </a:extLst>
          </p:cNvPr>
          <p:cNvSpPr>
            <a:spLocks noGrp="1"/>
          </p:cNvSpPr>
          <p:nvPr>
            <p:ph type="title"/>
          </p:nvPr>
        </p:nvSpPr>
        <p:spPr>
          <a:xfrm>
            <a:off x="552091" y="62454"/>
            <a:ext cx="11266097" cy="1325563"/>
          </a:xfrm>
        </p:spPr>
        <p:txBody>
          <a:bodyPr/>
          <a:lstStyle/>
          <a:p>
            <a:r>
              <a:rPr lang="en-US" dirty="0">
                <a:latin typeface="Times New Roman"/>
                <a:cs typeface="Times New Roman"/>
              </a:rPr>
              <a:t>Conclusion</a:t>
            </a:r>
          </a:p>
        </p:txBody>
      </p:sp>
      <p:sp>
        <p:nvSpPr>
          <p:cNvPr id="4" name="Slide Number Placeholder 3">
            <a:extLst>
              <a:ext uri="{FF2B5EF4-FFF2-40B4-BE49-F238E27FC236}">
                <a16:creationId xmlns:a16="http://schemas.microsoft.com/office/drawing/2014/main" id="{0B19BC74-6E51-FFE6-22B8-1F5B6671BFEF}"/>
              </a:ext>
            </a:extLst>
          </p:cNvPr>
          <p:cNvSpPr>
            <a:spLocks noGrp="1"/>
          </p:cNvSpPr>
          <p:nvPr>
            <p:ph type="sldNum" sz="quarter" idx="12"/>
          </p:nvPr>
        </p:nvSpPr>
        <p:spPr/>
        <p:txBody>
          <a:bodyPr/>
          <a:lstStyle/>
          <a:p>
            <a:fld id="{494A307A-1DDE-4068-8F8B-93AEF3FE836C}" type="slidenum">
              <a:rPr lang="he-IL" smtClean="0"/>
              <a:t>9</a:t>
            </a:fld>
            <a:endParaRPr lang="he-IL"/>
          </a:p>
        </p:txBody>
      </p:sp>
      <p:sp>
        <p:nvSpPr>
          <p:cNvPr id="6" name="Rectangle 5">
            <a:extLst>
              <a:ext uri="{FF2B5EF4-FFF2-40B4-BE49-F238E27FC236}">
                <a16:creationId xmlns:a16="http://schemas.microsoft.com/office/drawing/2014/main" id="{CDCB5796-3BD7-E8EF-88FD-A5C36BA62A70}"/>
              </a:ext>
            </a:extLst>
          </p:cNvPr>
          <p:cNvSpPr/>
          <p:nvPr/>
        </p:nvSpPr>
        <p:spPr>
          <a:xfrm>
            <a:off x="552091" y="1004229"/>
            <a:ext cx="6014720" cy="154011"/>
          </a:xfrm>
          <a:prstGeom prst="rect">
            <a:avLst/>
          </a:prstGeom>
          <a:solidFill>
            <a:srgbClr val="FFCA28"/>
          </a:solidFill>
          <a:ln>
            <a:solidFill>
              <a:srgbClr val="FFC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5">
            <a:extLst>
              <a:ext uri="{FF2B5EF4-FFF2-40B4-BE49-F238E27FC236}">
                <a16:creationId xmlns:a16="http://schemas.microsoft.com/office/drawing/2014/main" id="{73886A83-E6D7-BF5F-9881-CADA9FFB9A4F}"/>
              </a:ext>
            </a:extLst>
          </p:cNvPr>
          <p:cNvSpPr txBox="1"/>
          <p:nvPr/>
        </p:nvSpPr>
        <p:spPr>
          <a:xfrm>
            <a:off x="0" y="1306900"/>
            <a:ext cx="11509513" cy="526297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lvl="0" indent="-457200" eaLnBrk="0" fontAlgn="base" hangingPunct="0">
              <a:spcBef>
                <a:spcPct val="0"/>
              </a:spcBef>
              <a:spcAft>
                <a:spcPct val="0"/>
              </a:spcAft>
              <a:buFont typeface="Arial" panose="020B0604020202020204" pitchFamily="34" charset="0"/>
              <a:buChar char="•"/>
            </a:pPr>
            <a:r>
              <a:rPr lang="en-US" altLang="en-US" sz="2800" dirty="0"/>
              <a:t>Open-source EDA is no longer a research curiosity. It's backed by billions in funding, it spans the full RTL-to-GDSII flow, and it's already producing silicon that competes.</a:t>
            </a:r>
            <a:br>
              <a:rPr lang="en-US" altLang="en-US" sz="2800" dirty="0"/>
            </a:br>
            <a:endParaRPr lang="en-US" altLang="en-US" sz="2800" dirty="0"/>
          </a:p>
          <a:p>
            <a:pPr marL="457200" lvl="0" indent="-457200" eaLnBrk="0" fontAlgn="base" hangingPunct="0">
              <a:spcBef>
                <a:spcPct val="0"/>
              </a:spcBef>
              <a:spcAft>
                <a:spcPct val="0"/>
              </a:spcAft>
              <a:buFont typeface="Arial" panose="020B0604020202020204" pitchFamily="34" charset="0"/>
              <a:buChar char="•"/>
            </a:pPr>
            <a:r>
              <a:rPr lang="en-US" altLang="en-US" sz="2800" dirty="0"/>
              <a:t>That same openness is what makes it a target. Every stage from synthesis to physical design carries real, measurable risk, and the cost of getting it wrong is counted in the hundreds of billions.</a:t>
            </a:r>
            <a:br>
              <a:rPr lang="en-US" altLang="en-US" sz="2800" dirty="0"/>
            </a:br>
            <a:endParaRPr lang="en-US" altLang="en-US" sz="2800" dirty="0"/>
          </a:p>
          <a:p>
            <a:pPr marL="457200" lvl="0" indent="-457200" eaLnBrk="0" fontAlgn="base" hangingPunct="0">
              <a:spcBef>
                <a:spcPct val="0"/>
              </a:spcBef>
              <a:spcAft>
                <a:spcPct val="0"/>
              </a:spcAft>
              <a:buFont typeface="Arial" panose="020B0604020202020204" pitchFamily="34" charset="0"/>
              <a:buChar char="•"/>
            </a:pPr>
            <a:r>
              <a:rPr lang="en-US" altLang="en-US" sz="2800" dirty="0"/>
              <a:t>Security has to be designed in, not bolted on. The frameworks and metrics exist. What's needed now is for the community to treat security as a first-class requirement, the same way it already treats correctness and performance.</a:t>
            </a:r>
            <a:endParaRPr lang="en-US" altLang="en-US" dirty="0"/>
          </a:p>
        </p:txBody>
      </p:sp>
    </p:spTree>
    <p:extLst>
      <p:ext uri="{BB962C8B-B14F-4D97-AF65-F5344CB8AC3E}">
        <p14:creationId xmlns:p14="http://schemas.microsoft.com/office/powerpoint/2010/main" val="4087191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B7B40-DC81-C20D-D4C1-9519977BB9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701BE3-E266-B647-1523-186EF7C484C2}"/>
              </a:ext>
            </a:extLst>
          </p:cNvPr>
          <p:cNvSpPr>
            <a:spLocks noGrp="1"/>
          </p:cNvSpPr>
          <p:nvPr>
            <p:ph type="title"/>
          </p:nvPr>
        </p:nvSpPr>
        <p:spPr>
          <a:xfrm>
            <a:off x="552091" y="62454"/>
            <a:ext cx="11266097" cy="1325563"/>
          </a:xfrm>
        </p:spPr>
        <p:txBody>
          <a:bodyPr/>
          <a:lstStyle/>
          <a:p>
            <a:r>
              <a:rPr lang="en-US" dirty="0">
                <a:latin typeface="Times New Roman"/>
                <a:cs typeface="Times New Roman"/>
              </a:rPr>
              <a:t>References</a:t>
            </a:r>
          </a:p>
        </p:txBody>
      </p:sp>
      <p:sp>
        <p:nvSpPr>
          <p:cNvPr id="4" name="Slide Number Placeholder 3">
            <a:extLst>
              <a:ext uri="{FF2B5EF4-FFF2-40B4-BE49-F238E27FC236}">
                <a16:creationId xmlns:a16="http://schemas.microsoft.com/office/drawing/2014/main" id="{55104ED4-D58A-A622-92F8-D59E0F6C3743}"/>
              </a:ext>
            </a:extLst>
          </p:cNvPr>
          <p:cNvSpPr>
            <a:spLocks noGrp="1"/>
          </p:cNvSpPr>
          <p:nvPr>
            <p:ph type="sldNum" sz="quarter" idx="12"/>
          </p:nvPr>
        </p:nvSpPr>
        <p:spPr/>
        <p:txBody>
          <a:bodyPr/>
          <a:lstStyle/>
          <a:p>
            <a:fld id="{494A307A-1DDE-4068-8F8B-93AEF3FE836C}" type="slidenum">
              <a:rPr lang="he-IL" smtClean="0"/>
              <a:t>10</a:t>
            </a:fld>
            <a:endParaRPr lang="he-IL"/>
          </a:p>
        </p:txBody>
      </p:sp>
      <p:sp>
        <p:nvSpPr>
          <p:cNvPr id="6" name="Rectangle 5">
            <a:extLst>
              <a:ext uri="{FF2B5EF4-FFF2-40B4-BE49-F238E27FC236}">
                <a16:creationId xmlns:a16="http://schemas.microsoft.com/office/drawing/2014/main" id="{9F9070F6-B7C0-F8DB-EEE1-EB7EC393F25C}"/>
              </a:ext>
            </a:extLst>
          </p:cNvPr>
          <p:cNvSpPr/>
          <p:nvPr/>
        </p:nvSpPr>
        <p:spPr>
          <a:xfrm>
            <a:off x="552091" y="1004229"/>
            <a:ext cx="6014720" cy="154011"/>
          </a:xfrm>
          <a:prstGeom prst="rect">
            <a:avLst/>
          </a:prstGeom>
          <a:solidFill>
            <a:srgbClr val="FFCA28"/>
          </a:solidFill>
          <a:ln>
            <a:solidFill>
              <a:srgbClr val="FFCA2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5">
            <a:extLst>
              <a:ext uri="{FF2B5EF4-FFF2-40B4-BE49-F238E27FC236}">
                <a16:creationId xmlns:a16="http://schemas.microsoft.com/office/drawing/2014/main" id="{EA5961C7-415E-5DD2-3AD9-B6D63AC27867}"/>
              </a:ext>
            </a:extLst>
          </p:cNvPr>
          <p:cNvSpPr txBox="1"/>
          <p:nvPr/>
        </p:nvSpPr>
        <p:spPr>
          <a:xfrm>
            <a:off x="0" y="1306900"/>
            <a:ext cx="11509513" cy="5293757"/>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lvl="0" indent="-457200" eaLnBrk="0" fontAlgn="base" hangingPunct="0">
              <a:spcBef>
                <a:spcPct val="0"/>
              </a:spcBef>
              <a:spcAft>
                <a:spcPct val="0"/>
              </a:spcAft>
              <a:buFont typeface="Arial" panose="020B0604020202020204" pitchFamily="34" charset="0"/>
              <a:buChar char="•"/>
            </a:pPr>
            <a:r>
              <a:rPr lang="en-US" altLang="en-US" sz="2000" dirty="0">
                <a:latin typeface="Baskerville" panose="02020502070401020303" pitchFamily="18" charset="0"/>
                <a:ea typeface="Baskerville" panose="02020502070401020303" pitchFamily="18" charset="0"/>
              </a:rPr>
              <a:t>WSTS, Global Semiconductor Market Surges Beyond $1.5T (2026)</a:t>
            </a:r>
          </a:p>
          <a:p>
            <a:pPr marL="457200" lvl="0" indent="-457200" eaLnBrk="0" fontAlgn="base" hangingPunct="0">
              <a:spcBef>
                <a:spcPct val="0"/>
              </a:spcBef>
              <a:spcAft>
                <a:spcPct val="0"/>
              </a:spcAft>
              <a:buFont typeface="Arial" panose="020B0604020202020204" pitchFamily="34" charset="0"/>
              <a:buChar char="•"/>
            </a:pPr>
            <a:r>
              <a:rPr lang="en-US" altLang="en-US" sz="2000" dirty="0" err="1">
                <a:latin typeface="Baskerville" panose="02020502070401020303" pitchFamily="18" charset="0"/>
                <a:ea typeface="Baskerville" panose="02020502070401020303" pitchFamily="18" charset="0"/>
              </a:rPr>
              <a:t>TestFlow</a:t>
            </a:r>
            <a:r>
              <a:rPr lang="en-US" altLang="en-US" sz="2000" dirty="0">
                <a:latin typeface="Baskerville" panose="02020502070401020303" pitchFamily="18" charset="0"/>
                <a:ea typeface="Baskerville" panose="02020502070401020303" pitchFamily="18" charset="0"/>
              </a:rPr>
              <a:t> Inc., 2nm Chip Development Cost Analysis ($725M)</a:t>
            </a:r>
          </a:p>
          <a:p>
            <a:pPr marL="457200" lvl="0" indent="-457200" eaLnBrk="0" fontAlgn="base" hangingPunct="0">
              <a:spcBef>
                <a:spcPct val="0"/>
              </a:spcBef>
              <a:spcAft>
                <a:spcPct val="0"/>
              </a:spcAft>
              <a:buFont typeface="Arial" panose="020B0604020202020204" pitchFamily="34" charset="0"/>
              <a:buChar char="•"/>
            </a:pPr>
            <a:r>
              <a:rPr lang="en-US" altLang="en-US" sz="2000" dirty="0">
                <a:latin typeface="Baskerville" panose="02020502070401020303" pitchFamily="18" charset="0"/>
                <a:ea typeface="Baskerville" panose="02020502070401020303" pitchFamily="18" charset="0"/>
              </a:rPr>
              <a:t>Panchal, Free and Open-Source VLSI Chip Design EDA Tools List, LinkedIn</a:t>
            </a:r>
          </a:p>
          <a:p>
            <a:pPr marL="457200" lvl="0" indent="-457200" eaLnBrk="0" fontAlgn="base" hangingPunct="0">
              <a:spcBef>
                <a:spcPct val="0"/>
              </a:spcBef>
              <a:spcAft>
                <a:spcPct val="0"/>
              </a:spcAft>
              <a:buFont typeface="Arial" panose="020B0604020202020204" pitchFamily="34" charset="0"/>
              <a:buChar char="•"/>
            </a:pPr>
            <a:r>
              <a:rPr lang="en-US" altLang="en-US" sz="2000" dirty="0">
                <a:latin typeface="Baskerville" panose="02020502070401020303" pitchFamily="18" charset="0"/>
                <a:ea typeface="Baskerville" panose="02020502070401020303" pitchFamily="18" charset="0"/>
              </a:rPr>
              <a:t>Integrated Circuit Design, Springer (2025)</a:t>
            </a:r>
          </a:p>
          <a:p>
            <a:pPr marL="457200" lvl="0" indent="-457200" eaLnBrk="0" fontAlgn="base" hangingPunct="0">
              <a:spcBef>
                <a:spcPct val="0"/>
              </a:spcBef>
              <a:spcAft>
                <a:spcPct val="0"/>
              </a:spcAft>
              <a:buFont typeface="Arial" panose="020B0604020202020204" pitchFamily="34" charset="0"/>
              <a:buChar char="•"/>
            </a:pPr>
            <a:r>
              <a:rPr lang="en-US" altLang="en-US" sz="2000" dirty="0">
                <a:latin typeface="Baskerville" panose="02020502070401020303" pitchFamily="18" charset="0"/>
                <a:ea typeface="Baskerville" panose="02020502070401020303" pitchFamily="18" charset="0"/>
              </a:rPr>
              <a:t>MDPI Electronics, Vol. 15, Issue 5, Art. 1048</a:t>
            </a:r>
          </a:p>
          <a:p>
            <a:pPr marL="457200" lvl="0" indent="-457200" eaLnBrk="0" fontAlgn="base" hangingPunct="0">
              <a:spcBef>
                <a:spcPct val="0"/>
              </a:spcBef>
              <a:spcAft>
                <a:spcPct val="0"/>
              </a:spcAft>
              <a:buFont typeface="Arial" panose="020B0604020202020204" pitchFamily="34" charset="0"/>
              <a:buChar char="•"/>
            </a:pPr>
            <a:r>
              <a:rPr lang="en-US" altLang="en-US" sz="2000" dirty="0">
                <a:latin typeface="Baskerville" panose="02020502070401020303" pitchFamily="18" charset="0"/>
                <a:ea typeface="Baskerville" panose="02020502070401020303" pitchFamily="18" charset="0"/>
              </a:rPr>
              <a:t>ACM Digital Library, DOI 10.1145/3505170.3511046</a:t>
            </a:r>
          </a:p>
          <a:p>
            <a:pPr marL="457200" lvl="0" indent="-457200" eaLnBrk="0" fontAlgn="base" hangingPunct="0">
              <a:spcBef>
                <a:spcPct val="0"/>
              </a:spcBef>
              <a:spcAft>
                <a:spcPct val="0"/>
              </a:spcAft>
              <a:buFont typeface="Arial" panose="020B0604020202020204" pitchFamily="34" charset="0"/>
              <a:buChar char="•"/>
            </a:pPr>
            <a:r>
              <a:rPr lang="en-US" altLang="en-US" sz="2000" dirty="0" err="1">
                <a:latin typeface="Baskerville" panose="02020502070401020303" pitchFamily="18" charset="0"/>
                <a:ea typeface="Baskerville" panose="02020502070401020303" pitchFamily="18" charset="0"/>
              </a:rPr>
              <a:t>VisionSpace</a:t>
            </a:r>
            <a:r>
              <a:rPr lang="en-US" altLang="en-US" sz="2000" dirty="0">
                <a:latin typeface="Baskerville" panose="02020502070401020303" pitchFamily="18" charset="0"/>
                <a:ea typeface="Baskerville" panose="02020502070401020303" pitchFamily="18" charset="0"/>
              </a:rPr>
              <a:t>, Remote Code Execution and Critical Vulnerabilities in NASA F Prime v3.4.3</a:t>
            </a:r>
          </a:p>
          <a:p>
            <a:pPr marL="457200" lvl="0" indent="-457200" eaLnBrk="0" fontAlgn="base" hangingPunct="0">
              <a:spcBef>
                <a:spcPct val="0"/>
              </a:spcBef>
              <a:spcAft>
                <a:spcPct val="0"/>
              </a:spcAft>
              <a:buFont typeface="Arial" panose="020B0604020202020204" pitchFamily="34" charset="0"/>
              <a:buChar char="•"/>
            </a:pPr>
            <a:r>
              <a:rPr lang="en-US" altLang="en-US" sz="2000" dirty="0">
                <a:latin typeface="Baskerville" panose="02020502070401020303" pitchFamily="18" charset="0"/>
                <a:ea typeface="Baskerville" panose="02020502070401020303" pitchFamily="18" charset="0"/>
              </a:rPr>
              <a:t>Solt et al., USENIX Security 2025</a:t>
            </a:r>
          </a:p>
          <a:p>
            <a:pPr marL="457200" lvl="0" indent="-457200" eaLnBrk="0" fontAlgn="base" hangingPunct="0">
              <a:spcBef>
                <a:spcPct val="0"/>
              </a:spcBef>
              <a:spcAft>
                <a:spcPct val="0"/>
              </a:spcAft>
              <a:buFont typeface="Arial" panose="020B0604020202020204" pitchFamily="34" charset="0"/>
              <a:buChar char="•"/>
            </a:pPr>
            <a:r>
              <a:rPr lang="en-US" altLang="en-US" sz="2000" dirty="0">
                <a:latin typeface="Baskerville" panose="02020502070401020303" pitchFamily="18" charset="0"/>
                <a:ea typeface="Baskerville" panose="02020502070401020303" pitchFamily="18" charset="0"/>
              </a:rPr>
              <a:t>Astute Group, Counterfeit Electronics Threaten Supply Chain Sustainability</a:t>
            </a:r>
          </a:p>
          <a:p>
            <a:pPr marL="457200" lvl="0" indent="-457200" eaLnBrk="0" fontAlgn="base" hangingPunct="0">
              <a:spcBef>
                <a:spcPct val="0"/>
              </a:spcBef>
              <a:spcAft>
                <a:spcPct val="0"/>
              </a:spcAft>
              <a:buFont typeface="Arial" panose="020B0604020202020204" pitchFamily="34" charset="0"/>
              <a:buChar char="•"/>
            </a:pPr>
            <a:r>
              <a:rPr lang="en-US" altLang="en-US" sz="2000" dirty="0" err="1">
                <a:latin typeface="Baskerville" panose="02020502070401020303" pitchFamily="18" charset="0"/>
                <a:ea typeface="Baskerville" panose="02020502070401020303" pitchFamily="18" charset="0"/>
              </a:rPr>
              <a:t>StationX</a:t>
            </a:r>
            <a:r>
              <a:rPr lang="en-US" altLang="en-US" sz="2000" dirty="0">
                <a:latin typeface="Baskerville" panose="02020502070401020303" pitchFamily="18" charset="0"/>
                <a:ea typeface="Baskerville" panose="02020502070401020303" pitchFamily="18" charset="0"/>
              </a:rPr>
              <a:t>, Cyber Security Breach Statistics</a:t>
            </a:r>
          </a:p>
          <a:p>
            <a:pPr marL="457200" lvl="0" indent="-457200" eaLnBrk="0" fontAlgn="base" hangingPunct="0">
              <a:spcBef>
                <a:spcPct val="0"/>
              </a:spcBef>
              <a:spcAft>
                <a:spcPct val="0"/>
              </a:spcAft>
              <a:buFont typeface="Arial" panose="020B0604020202020204" pitchFamily="34" charset="0"/>
              <a:buChar char="•"/>
            </a:pPr>
            <a:r>
              <a:rPr lang="en-US" altLang="en-US" sz="2000" dirty="0" err="1">
                <a:latin typeface="Baskerville" panose="02020502070401020303" pitchFamily="18" charset="0"/>
                <a:ea typeface="Baskerville" panose="02020502070401020303" pitchFamily="18" charset="0"/>
              </a:rPr>
              <a:t>DeepStrike</a:t>
            </a:r>
            <a:r>
              <a:rPr lang="en-US" altLang="en-US" sz="2000" dirty="0">
                <a:latin typeface="Baskerville" panose="02020502070401020303" pitchFamily="18" charset="0"/>
                <a:ea typeface="Baskerville" panose="02020502070401020303" pitchFamily="18" charset="0"/>
              </a:rPr>
              <a:t>, Supply Chain Attack Statistics 2025</a:t>
            </a:r>
          </a:p>
          <a:p>
            <a:pPr marL="457200" lvl="0" indent="-457200" eaLnBrk="0" fontAlgn="base" hangingPunct="0">
              <a:spcBef>
                <a:spcPct val="0"/>
              </a:spcBef>
              <a:spcAft>
                <a:spcPct val="0"/>
              </a:spcAft>
              <a:buFont typeface="Arial" panose="020B0604020202020204" pitchFamily="34" charset="0"/>
              <a:buChar char="•"/>
            </a:pPr>
            <a:r>
              <a:rPr lang="en-US" altLang="en-US" sz="2000" dirty="0">
                <a:latin typeface="Baskerville" panose="02020502070401020303" pitchFamily="18" charset="0"/>
                <a:ea typeface="Baskerville" panose="02020502070401020303" pitchFamily="18" charset="0"/>
              </a:rPr>
              <a:t>International Journal of Information Security, Springer, DOI 10.1007/s10207-026-01284-4</a:t>
            </a:r>
          </a:p>
          <a:p>
            <a:pPr marL="457200" lvl="0" indent="-457200" eaLnBrk="0" fontAlgn="base" hangingPunct="0">
              <a:spcBef>
                <a:spcPct val="0"/>
              </a:spcBef>
              <a:spcAft>
                <a:spcPct val="0"/>
              </a:spcAft>
              <a:buFont typeface="Arial" panose="020B0604020202020204" pitchFamily="34" charset="0"/>
              <a:buChar char="•"/>
            </a:pPr>
            <a:r>
              <a:rPr lang="en-US" altLang="en-US" sz="2000" dirty="0">
                <a:latin typeface="Baskerville" panose="02020502070401020303" pitchFamily="18" charset="0"/>
                <a:ea typeface="Baskerville" panose="02020502070401020303" pitchFamily="18" charset="0"/>
              </a:rPr>
              <a:t>IEEE Xplore, Document 6860363</a:t>
            </a:r>
          </a:p>
          <a:p>
            <a:pPr marL="457200" lvl="0" indent="-457200" eaLnBrk="0" fontAlgn="base" hangingPunct="0">
              <a:spcBef>
                <a:spcPct val="0"/>
              </a:spcBef>
              <a:spcAft>
                <a:spcPct val="0"/>
              </a:spcAft>
              <a:buFont typeface="Arial" panose="020B0604020202020204" pitchFamily="34" charset="0"/>
              <a:buChar char="•"/>
            </a:pPr>
            <a:r>
              <a:rPr lang="en-US" altLang="en-US" sz="2000" dirty="0" err="1">
                <a:latin typeface="Baskerville" panose="02020502070401020303" pitchFamily="18" charset="0"/>
                <a:ea typeface="Baskerville" panose="02020502070401020303" pitchFamily="18" charset="0"/>
              </a:rPr>
              <a:t>OpenROAD</a:t>
            </a:r>
            <a:r>
              <a:rPr lang="en-US" altLang="en-US" sz="2000" dirty="0">
                <a:latin typeface="Baskerville" panose="02020502070401020303" pitchFamily="18" charset="0"/>
                <a:ea typeface="Baskerville" panose="02020502070401020303" pitchFamily="18" charset="0"/>
              </a:rPr>
              <a:t> Initiative, Google Joins ORI, July 14, 2026</a:t>
            </a:r>
          </a:p>
          <a:p>
            <a:pPr marL="457200" lvl="0" indent="-457200" eaLnBrk="0" fontAlgn="base" hangingPunct="0">
              <a:spcBef>
                <a:spcPct val="0"/>
              </a:spcBef>
              <a:spcAft>
                <a:spcPct val="0"/>
              </a:spcAft>
              <a:buFont typeface="Arial" panose="020B0604020202020204" pitchFamily="34" charset="0"/>
              <a:buChar char="•"/>
            </a:pPr>
            <a:r>
              <a:rPr lang="en-US" altLang="en-US" sz="2000" dirty="0">
                <a:latin typeface="Baskerville" panose="02020502070401020303" pitchFamily="18" charset="0"/>
                <a:ea typeface="Baskerville" panose="02020502070401020303" pitchFamily="18" charset="0"/>
              </a:rPr>
              <a:t>Yahoo Finance, Cadence, Synopsys Slide on Kimi K3, July 16, 2026</a:t>
            </a:r>
          </a:p>
          <a:p>
            <a:pPr marL="457200" lvl="0" indent="-457200" eaLnBrk="0" fontAlgn="base" hangingPunct="0">
              <a:spcBef>
                <a:spcPct val="0"/>
              </a:spcBef>
              <a:spcAft>
                <a:spcPct val="0"/>
              </a:spcAft>
              <a:buFont typeface="Arial" panose="020B0604020202020204" pitchFamily="34" charset="0"/>
              <a:buChar char="•"/>
            </a:pPr>
            <a:r>
              <a:rPr lang="en-US" altLang="en-US" sz="2000" dirty="0" err="1">
                <a:latin typeface="Baskerville" panose="02020502070401020303" pitchFamily="18" charset="0"/>
                <a:ea typeface="Baskerville" panose="02020502070401020303" pitchFamily="18" charset="0"/>
              </a:rPr>
              <a:t>EuroCDP</a:t>
            </a:r>
            <a:r>
              <a:rPr lang="en-US" altLang="en-US" sz="2000" dirty="0">
                <a:latin typeface="Baskerville" panose="02020502070401020303" pitchFamily="18" charset="0"/>
                <a:ea typeface="Baskerville" panose="02020502070401020303" pitchFamily="18" charset="0"/>
              </a:rPr>
              <a:t>, Open EDA Tool Gap Analysis and Recommendations, July 10, 2026</a:t>
            </a:r>
          </a:p>
          <a:p>
            <a:pPr marL="457200" lvl="0" indent="-457200" eaLnBrk="0" fontAlgn="base" hangingPunct="0">
              <a:spcBef>
                <a:spcPct val="0"/>
              </a:spcBef>
              <a:spcAft>
                <a:spcPct val="0"/>
              </a:spcAft>
              <a:buFont typeface="Arial" panose="020B0604020202020204" pitchFamily="34" charset="0"/>
              <a:buChar char="•"/>
            </a:pPr>
            <a:r>
              <a:rPr lang="en-US" altLang="en-US" sz="2000" dirty="0">
                <a:latin typeface="Baskerville" panose="02020502070401020303" pitchFamily="18" charset="0"/>
                <a:ea typeface="Baskerville" panose="02020502070401020303" pitchFamily="18" charset="0"/>
              </a:rPr>
              <a:t>NSF Award #2449356</a:t>
            </a:r>
            <a:endParaRPr lang="en-US" altLang="en-US" sz="1400" dirty="0">
              <a:latin typeface="Baskerville" panose="02020502070401020303" pitchFamily="18" charset="0"/>
              <a:ea typeface="Baskerville" panose="02020502070401020303" pitchFamily="18" charset="0"/>
            </a:endParaRPr>
          </a:p>
        </p:txBody>
      </p:sp>
    </p:spTree>
    <p:extLst>
      <p:ext uri="{BB962C8B-B14F-4D97-AF65-F5344CB8AC3E}">
        <p14:creationId xmlns:p14="http://schemas.microsoft.com/office/powerpoint/2010/main" val="334860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F2884"/>
        </a:solidFill>
        <a:effectLst/>
      </p:bgPr>
    </p:bg>
    <p:spTree>
      <p:nvGrpSpPr>
        <p:cNvPr id="1" name="">
          <a:extLst>
            <a:ext uri="{FF2B5EF4-FFF2-40B4-BE49-F238E27FC236}">
              <a16:creationId xmlns:a16="http://schemas.microsoft.com/office/drawing/2014/main" id="{8DDE7BDB-21A3-8095-46E1-A19F6D50CDF4}"/>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B03FD460-D93C-4498-C47C-1358A15E9780}"/>
              </a:ext>
            </a:extLst>
          </p:cNvPr>
          <p:cNvSpPr txBox="1"/>
          <p:nvPr/>
        </p:nvSpPr>
        <p:spPr>
          <a:xfrm>
            <a:off x="1305339" y="1905506"/>
            <a:ext cx="9581322" cy="3046988"/>
          </a:xfrm>
          <a:prstGeom prst="rect">
            <a:avLst/>
          </a:prstGeom>
          <a:noFill/>
        </p:spPr>
        <p:txBody>
          <a:bodyPr wrap="square">
            <a:spAutoFit/>
          </a:bodyPr>
          <a:lstStyle/>
          <a:p>
            <a:pPr algn="ctr"/>
            <a:r>
              <a:rPr lang="en-US" sz="4800" b="1" dirty="0">
                <a:solidFill>
                  <a:schemeClr val="bg1"/>
                </a:solidFill>
                <a:latin typeface="Cambria" panose="02040503050406030204" pitchFamily="18" charset="0"/>
              </a:rPr>
              <a:t>“The next chapter of open-source EDA won't be defined by whether it's adopted. It'll be defined by whether it's trusted.”</a:t>
            </a:r>
          </a:p>
        </p:txBody>
      </p:sp>
    </p:spTree>
    <p:extLst>
      <p:ext uri="{BB962C8B-B14F-4D97-AF65-F5344CB8AC3E}">
        <p14:creationId xmlns:p14="http://schemas.microsoft.com/office/powerpoint/2010/main" val="3687311679"/>
      </p:ext>
    </p:extLst>
  </p:cSld>
  <p:clrMapOvr>
    <a:masterClrMapping/>
  </p:clrMapOvr>
  <p:transition spd="slow">
    <p:push dir="u"/>
  </p:transition>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2">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rtl="0">
          <a:defRPr dirty="0" smtClean="0"/>
        </a:defPPr>
      </a:lstStyle>
    </a:txDef>
  </a:objectDefaults>
  <a:extraClrSchemeLst/>
  <a:extLst>
    <a:ext uri="{05A4C25C-085E-4340-85A3-A5531E510DB2}">
      <thm15:themeFamily xmlns:thm15="http://schemas.microsoft.com/office/thememl/2012/main" name="Custom-01" id="{5E987EB9-C24C-4DA1-A8F3-4DE7A629A211}" vid="{B5264CAE-F3A8-427A-8AA0-2DA8EEEC9E1E}"/>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Custom-01</Template>
  <TotalTime>7156</TotalTime>
  <Words>2065</Words>
  <Application>Microsoft Macintosh PowerPoint</Application>
  <PresentationFormat>Widescreen</PresentationFormat>
  <Paragraphs>114</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Baskerville</vt:lpstr>
      <vt:lpstr>Calibri</vt:lpstr>
      <vt:lpstr>Cambria</vt:lpstr>
      <vt:lpstr>Lucida Fax</vt:lpstr>
      <vt:lpstr>Times New Roman</vt:lpstr>
      <vt:lpstr>ערכת נושא Office</vt:lpstr>
      <vt:lpstr>PowerPoint Presentation</vt:lpstr>
      <vt:lpstr>Need for Open-Source EDA</vt:lpstr>
      <vt:lpstr>Adoption of Open-Source EDA</vt:lpstr>
      <vt:lpstr>Public Hardware Security Incidents</vt:lpstr>
      <vt:lpstr>Impact of a Security Breach</vt:lpstr>
      <vt:lpstr>Quantifying Security Analysis</vt:lpstr>
      <vt:lpstr>Rising Vulnerabilities vs. Human Bandwidth</vt:lpstr>
      <vt:lpstr>Countermeasure Feasibility</vt:lpstr>
      <vt:lpstr>Conclusion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Mostafa Asadzadehmehdialghadami</dc:creator>
  <cp:lastModifiedBy>Ishraq Tashdid</cp:lastModifiedBy>
  <cp:revision>31</cp:revision>
  <dcterms:created xsi:type="dcterms:W3CDTF">2018-11-18T20:48:52Z</dcterms:created>
  <dcterms:modified xsi:type="dcterms:W3CDTF">2026-07-28T21:22:19Z</dcterms:modified>
</cp:coreProperties>
</file>