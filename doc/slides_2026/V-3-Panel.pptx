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11196" r:id="rId2"/>
  </p:sldIdLst>
  <p:sldSz cx="12192000" cy="6858000"/>
  <p:notesSz cx="9296400" cy="7010400"/>
  <p:embeddedFontLst>
    <p:embeddedFont>
      <p:font typeface="Cambria" panose="02040503050406030204" pitchFamily="18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9">
          <p15:clr>
            <a:srgbClr val="A4A3A4"/>
          </p15:clr>
        </p15:guide>
      </p15:notes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47" roundtripDataSignature="AMtx7mj+2D7CkC/aY0P9Hde6WN4hu3GE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C7E7"/>
    <a:srgbClr val="0432FF"/>
    <a:srgbClr val="FFB74D"/>
    <a:srgbClr val="66BB6A"/>
    <a:srgbClr val="FFD54F"/>
    <a:srgbClr val="4DB6AC"/>
    <a:srgbClr val="1F77B4"/>
    <a:srgbClr val="A9CCE3"/>
    <a:srgbClr val="F5F5F5"/>
    <a:srgbClr val="FFF1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09D57-A2AA-9A26-6063-322C2EE5D6E4}" v="745" dt="2025-10-17T19:50:15.439"/>
    <p1510:client id="{340EDB42-A90B-0747-6BA1-02D8B5974A8A}" v="1136" dt="2025-10-17T19:55:26.779"/>
  </p1510:revLst>
</p1510:revInfo>
</file>

<file path=ppt/tableStyles.xml><?xml version="1.0" encoding="utf-8"?>
<a:tblStyleLst xmlns:a="http://schemas.openxmlformats.org/drawingml/2006/main" def="{A89467DB-FBF7-4903-8EE7-3344BEFA4DEC}">
  <a:tblStyle styleId="{A89467DB-FBF7-4903-8EE7-3344BEFA4DE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2"/>
    <p:restoredTop sz="79741"/>
  </p:normalViewPr>
  <p:slideViewPr>
    <p:cSldViewPr snapToGrid="0">
      <p:cViewPr varScale="1">
        <p:scale>
          <a:sx n="90" d="100"/>
          <a:sy n="90" d="100"/>
        </p:scale>
        <p:origin x="1576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208"/>
        <p:guide pos="292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51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49" Type="http://schemas.openxmlformats.org/officeDocument/2006/relationships/viewProps" Target="viewProps.xml"/><Relationship Id="rId52" Type="http://schemas.microsoft.com/office/2015/10/relationships/revisionInfo" Target="revisionInfo.xml"/><Relationship Id="rId4" Type="http://schemas.openxmlformats.org/officeDocument/2006/relationships/font" Target="fonts/font1.fntdata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4" y="1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450" tIns="44725" rIns="89450" bIns="447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265812" y="1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450" tIns="44725" rIns="89450" bIns="447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11400" y="527050"/>
            <a:ext cx="46736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29641" y="3329940"/>
            <a:ext cx="7437120" cy="31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450" tIns="44725" rIns="89450" bIns="4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4" y="6658664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450" tIns="44725" rIns="89450" bIns="447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265812" y="6658664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450" tIns="44725" rIns="89450" bIns="447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4"/>
          <p:cNvSpPr txBox="1">
            <a:spLocks noGrp="1"/>
          </p:cNvSpPr>
          <p:nvPr>
            <p:ph type="body" idx="1"/>
          </p:nvPr>
        </p:nvSpPr>
        <p:spPr>
          <a:xfrm>
            <a:off x="228601" y="838201"/>
            <a:ext cx="11781367" cy="556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227013" lvl="0" indent="-227013" algn="l">
              <a:lnSpc>
                <a:spcPct val="85000"/>
              </a:lnSpc>
              <a:spcBef>
                <a:spcPts val="84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 panose="020B0604020202020204" pitchFamily="34" charset="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458788" lvl="1" indent="-231775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687388" lvl="2" indent="-228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914400" lvl="3" indent="-22701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1141413" lvl="4" indent="-227013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Google Shape;22;p54"/>
          <p:cNvSpPr txBox="1">
            <a:spLocks noGrp="1"/>
          </p:cNvSpPr>
          <p:nvPr>
            <p:ph type="title"/>
          </p:nvPr>
        </p:nvSpPr>
        <p:spPr>
          <a:xfrm>
            <a:off x="215900" y="144463"/>
            <a:ext cx="11802533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215900" y="144463"/>
            <a:ext cx="11802533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228601" y="801688"/>
            <a:ext cx="11781367" cy="574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marR="0" lvl="0" indent="-406400" algn="l" rtl="0">
              <a:lnSpc>
                <a:spcPct val="85000"/>
              </a:lnSpc>
              <a:spcBef>
                <a:spcPts val="84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9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12" name="Google Shape;12;p22"/>
          <p:cNvCxnSpPr/>
          <p:nvPr/>
        </p:nvCxnSpPr>
        <p:spPr>
          <a:xfrm>
            <a:off x="218017" y="684213"/>
            <a:ext cx="11794067" cy="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2" descr="UCSDa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00" y="6486525"/>
            <a:ext cx="609600" cy="36988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2"/>
          <p:cNvSpPr txBox="1"/>
          <p:nvPr/>
        </p:nvSpPr>
        <p:spPr>
          <a:xfrm>
            <a:off x="11636149" y="6591081"/>
            <a:ext cx="5368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4572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tabLst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914400" marR="0" lvl="1" indent="-9144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BB450-1CB8-6499-FE49-EC041001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0">
            <a:extLst>
              <a:ext uri="{FF2B5EF4-FFF2-40B4-BE49-F238E27FC236}">
                <a16:creationId xmlns:a16="http://schemas.microsoft.com/office/drawing/2014/main" id="{DB184B89-8710-9CE1-0CE0-0CAECB4D9767}"/>
              </a:ext>
            </a:extLst>
          </p:cNvPr>
          <p:cNvSpPr/>
          <p:nvPr/>
        </p:nvSpPr>
        <p:spPr>
          <a:xfrm>
            <a:off x="330327" y="-67817"/>
            <a:ext cx="55418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‘How’ to ‘What’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12141F45-87F7-B3CD-5C28-EAE4FD920E5F}"/>
              </a:ext>
            </a:extLst>
          </p:cNvPr>
          <p:cNvSpPr/>
          <p:nvPr/>
        </p:nvSpPr>
        <p:spPr>
          <a:xfrm>
            <a:off x="5506402" y="27431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043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engineering education for the AI era</a:t>
            </a:r>
            <a:endParaRPr lang="en-US" sz="2400" b="1" dirty="0">
              <a:solidFill>
                <a:srgbClr val="0432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AC888-4913-06D4-1478-5656EACC2CDD}"/>
              </a:ext>
            </a:extLst>
          </p:cNvPr>
          <p:cNvSpPr txBox="1"/>
          <p:nvPr/>
        </p:nvSpPr>
        <p:spPr>
          <a:xfrm>
            <a:off x="270606" y="3793101"/>
            <a:ext cx="115308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7013" lvl="1" indent="0">
              <a:buNone/>
            </a:pPr>
            <a:r>
              <a:rPr lang="en-US" sz="2200" b="1" i="1" dirty="0">
                <a:solidFill>
                  <a:srgbClr val="0432FF"/>
                </a:solidFill>
              </a:rPr>
              <a:t>Do you agree with this shift, and how is academia adapting to ensure graduates are ready for this new landscape?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685C9-1846-F2D6-7659-DD967665A2C0}"/>
              </a:ext>
            </a:extLst>
          </p:cNvPr>
          <p:cNvSpPr txBox="1"/>
          <p:nvPr/>
        </p:nvSpPr>
        <p:spPr>
          <a:xfrm>
            <a:off x="490060" y="5108028"/>
            <a:ext cx="5941029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fontAlgn="base"/>
            <a:r>
              <a:rPr lang="en-US" sz="2000" b="1" dirty="0"/>
              <a:t>Vidya Chhabria</a:t>
            </a:r>
            <a:r>
              <a:rPr lang="en-US" sz="2000" dirty="0"/>
              <a:t>, Arizona State University</a:t>
            </a:r>
          </a:p>
          <a:p>
            <a:pPr lvl="0" fontAlgn="base"/>
            <a:r>
              <a:rPr lang="en-US" sz="2000" b="1" dirty="0"/>
              <a:t>Mehdi </a:t>
            </a:r>
            <a:r>
              <a:rPr lang="en-US" sz="2000" b="1" dirty="0" err="1"/>
              <a:t>Saligane</a:t>
            </a:r>
            <a:r>
              <a:rPr lang="en-US" sz="2000" dirty="0"/>
              <a:t>, Brown University</a:t>
            </a:r>
          </a:p>
          <a:p>
            <a:pPr lvl="0" fontAlgn="base"/>
            <a:r>
              <a:rPr lang="en-US" sz="2000" b="1" dirty="0"/>
              <a:t>Luca Carloni</a:t>
            </a:r>
            <a:r>
              <a:rPr lang="en-US" sz="2000" dirty="0"/>
              <a:t>, Columbia University</a:t>
            </a:r>
          </a:p>
          <a:p>
            <a:pPr lvl="0" fontAlgn="base"/>
            <a:r>
              <a:rPr lang="en-US" sz="2000" b="1" dirty="0"/>
              <a:t>Arpan Suravi Prasad</a:t>
            </a:r>
            <a:r>
              <a:rPr lang="en-US" sz="2000" dirty="0"/>
              <a:t>, ETH Zurich / PULP 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CD291-8423-D5C8-9C68-2830FB89C281}"/>
              </a:ext>
            </a:extLst>
          </p:cNvPr>
          <p:cNvSpPr txBox="1"/>
          <p:nvPr/>
        </p:nvSpPr>
        <p:spPr>
          <a:xfrm>
            <a:off x="6726365" y="5108028"/>
            <a:ext cx="4205286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fontAlgn="base"/>
            <a:r>
              <a:rPr lang="en-US" sz="2000" b="1" dirty="0"/>
              <a:t>Michael </a:t>
            </a:r>
            <a:r>
              <a:rPr lang="en-US" sz="2000" b="1" dirty="0" err="1"/>
              <a:t>Gielda</a:t>
            </a:r>
            <a:r>
              <a:rPr lang="en-US" sz="2000" dirty="0"/>
              <a:t>, </a:t>
            </a:r>
            <a:r>
              <a:rPr lang="en-US" sz="2000" dirty="0" err="1"/>
              <a:t>Antmicro</a:t>
            </a:r>
            <a:endParaRPr lang="en-US" sz="2000" dirty="0"/>
          </a:p>
          <a:p>
            <a:pPr lvl="0" fontAlgn="base"/>
            <a:r>
              <a:rPr lang="en-US" sz="2000" b="1" dirty="0"/>
              <a:t>Akash Levy</a:t>
            </a:r>
            <a:r>
              <a:rPr lang="en-US" sz="2000" dirty="0"/>
              <a:t>, </a:t>
            </a:r>
            <a:r>
              <a:rPr lang="en-US" sz="2000" dirty="0" err="1"/>
              <a:t>Silimate</a:t>
            </a:r>
            <a:endParaRPr lang="en-US" sz="2000" dirty="0"/>
          </a:p>
          <a:p>
            <a:pPr lvl="0" fontAlgn="base"/>
            <a:r>
              <a:rPr lang="en-US" sz="2000" b="1" dirty="0"/>
              <a:t>Shivaram Mysore</a:t>
            </a:r>
            <a:r>
              <a:rPr lang="en-US" sz="2000" dirty="0"/>
              <a:t>, </a:t>
            </a:r>
            <a:r>
              <a:rPr lang="en-US" sz="2000" dirty="0" err="1"/>
              <a:t>Vyges</a:t>
            </a:r>
            <a:endParaRPr lang="en-US" sz="2000" dirty="0"/>
          </a:p>
          <a:p>
            <a:pPr lvl="0" fontAlgn="base"/>
            <a:r>
              <a:rPr lang="en-US" sz="2000" b="1" dirty="0"/>
              <a:t>Sirish </a:t>
            </a:r>
            <a:r>
              <a:rPr lang="en-US" sz="2000" b="1" dirty="0" err="1"/>
              <a:t>Munipalli</a:t>
            </a:r>
            <a:r>
              <a:rPr lang="en-US" sz="2000" dirty="0"/>
              <a:t>, </a:t>
            </a:r>
            <a:r>
              <a:rPr lang="en-US" sz="2000" dirty="0" err="1"/>
              <a:t>Moores</a:t>
            </a:r>
            <a:r>
              <a:rPr lang="en-US" sz="2000" dirty="0"/>
              <a:t> Lab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938EE-96F5-FF4E-E92B-212DB7AC720A}"/>
              </a:ext>
            </a:extLst>
          </p:cNvPr>
          <p:cNvSpPr txBox="1"/>
          <p:nvPr/>
        </p:nvSpPr>
        <p:spPr>
          <a:xfrm>
            <a:off x="504348" y="4628323"/>
            <a:ext cx="75580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</a:rPr>
              <a:t>Panelists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2E89B1-B31B-11F6-9186-D0FCA8629564}"/>
              </a:ext>
            </a:extLst>
          </p:cNvPr>
          <p:cNvSpPr/>
          <p:nvPr/>
        </p:nvSpPr>
        <p:spPr>
          <a:xfrm>
            <a:off x="6528912" y="1586881"/>
            <a:ext cx="5143976" cy="2078885"/>
          </a:xfrm>
          <a:prstGeom prst="rect">
            <a:avLst/>
          </a:prstGeom>
          <a:ln w="38100">
            <a:solidFill>
              <a:srgbClr val="A7C7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WHAT</a:t>
            </a:r>
          </a:p>
          <a:p>
            <a:pPr marL="227013" lvl="1" indent="0">
              <a:buNone/>
            </a:pPr>
            <a:r>
              <a:rPr lang="en-US" sz="2400" dirty="0"/>
              <a:t>Create the high-level designs and descriptions yourself, then </a:t>
            </a:r>
            <a:r>
              <a:rPr lang="en-US" sz="2400" b="1" dirty="0"/>
              <a:t>leverage AI to execute the build</a:t>
            </a:r>
            <a:endParaRPr lang="en-US" sz="2400" dirty="0"/>
          </a:p>
          <a:p>
            <a:pPr marL="227013" lvl="1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86FF5ADC-FDFA-9D64-B76B-6999E28FF87D}"/>
              </a:ext>
            </a:extLst>
          </p:cNvPr>
          <p:cNvSpPr/>
          <p:nvPr/>
        </p:nvSpPr>
        <p:spPr>
          <a:xfrm>
            <a:off x="5685950" y="2277210"/>
            <a:ext cx="842962" cy="5000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CA697-41B5-D039-9D0E-C3F7C1638ABC}"/>
              </a:ext>
            </a:extLst>
          </p:cNvPr>
          <p:cNvSpPr/>
          <p:nvPr/>
        </p:nvSpPr>
        <p:spPr>
          <a:xfrm>
            <a:off x="404815" y="1557244"/>
            <a:ext cx="5143976" cy="2078885"/>
          </a:xfrm>
          <a:prstGeom prst="rect">
            <a:avLst/>
          </a:prstGeom>
          <a:ln w="38100">
            <a:solidFill>
              <a:srgbClr val="A7C7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HOW</a:t>
            </a:r>
          </a:p>
          <a:p>
            <a:pPr marL="227013" lvl="1" indent="0">
              <a:buNone/>
            </a:pPr>
            <a:r>
              <a:rPr lang="en-US" sz="2400" dirty="0"/>
              <a:t>Build things using specific tools or programming languages --assuming </a:t>
            </a:r>
            <a:r>
              <a:rPr lang="en-US" sz="2400" b="1" dirty="0"/>
              <a:t>someone else defines what to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6791C4-4CDE-53D9-23B0-B1A5747C18CF}"/>
              </a:ext>
            </a:extLst>
          </p:cNvPr>
          <p:cNvSpPr txBox="1"/>
          <p:nvPr/>
        </p:nvSpPr>
        <p:spPr>
          <a:xfrm>
            <a:off x="284894" y="867298"/>
            <a:ext cx="1173089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A growing gap between </a:t>
            </a:r>
            <a:r>
              <a:rPr lang="en-US" sz="2500" b="1" dirty="0"/>
              <a:t>traditional</a:t>
            </a:r>
            <a:r>
              <a:rPr lang="en-US" sz="2500" dirty="0"/>
              <a:t> academic skill sets and </a:t>
            </a:r>
            <a:r>
              <a:rPr lang="en-US" sz="2500" b="1" dirty="0"/>
              <a:t>current</a:t>
            </a:r>
            <a:r>
              <a:rPr lang="en-US" sz="2500" dirty="0"/>
              <a:t> market needs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EEB18A-A25E-548D-BFC8-3512900E72D2}"/>
              </a:ext>
            </a:extLst>
          </p:cNvPr>
          <p:cNvSpPr txBox="1"/>
          <p:nvPr/>
        </p:nvSpPr>
        <p:spPr>
          <a:xfrm>
            <a:off x="5548791" y="1783896"/>
            <a:ext cx="1094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AI era</a:t>
            </a:r>
            <a:endParaRPr lang="en-US" sz="12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128082"/>
      </p:ext>
    </p:extLst>
  </p:cSld>
  <p:clrMapOvr>
    <a:masterClrMapping/>
  </p:clrMapOvr>
</p:sld>
</file>

<file path=ppt/theme/theme1.xml><?xml version="1.0" encoding="utf-8"?>
<a:theme xmlns:a="http://schemas.openxmlformats.org/drawingml/2006/main" name="1_ABKGROU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</TotalTime>
  <Words>129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Cambria</vt:lpstr>
      <vt:lpstr>1_ABKGROUP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ABKGroup – Apple Synch Up</dc:title>
  <dc:creator>Kwangsoo Han</dc:creator>
  <cp:lastModifiedBy>刘怡婷</cp:lastModifiedBy>
  <cp:revision>920</cp:revision>
  <dcterms:created xsi:type="dcterms:W3CDTF">2006-08-16T00:00:00Z</dcterms:created>
  <dcterms:modified xsi:type="dcterms:W3CDTF">2026-07-29T21:39:44Z</dcterms:modified>
</cp:coreProperties>
</file>